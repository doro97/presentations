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4EBDA5-641A-479C-9665-B8E04F9EBD5C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C37EDDD1-7C70-446E-A3EC-52D15EA913D6}">
      <dgm:prSet phldrT="[Text]" phldr="0" custT="1"/>
      <dgm:spPr/>
      <dgm:t>
        <a:bodyPr/>
        <a:lstStyle/>
        <a:p>
          <a:r>
            <a:rPr lang="en-GB" sz="1050" dirty="0"/>
            <a:t>BELIEF: </a:t>
          </a:r>
          <a:r>
            <a:rPr lang="en-GB" sz="900" i="1" dirty="0"/>
            <a:t>what they know</a:t>
          </a:r>
        </a:p>
      </dgm:t>
    </dgm:pt>
    <dgm:pt modelId="{CAFDC4EA-0D38-4BDD-B2D3-8035D4E59784}" type="parTrans" cxnId="{AA143429-3ABA-43DB-8CB8-EB0BC0B4242B}">
      <dgm:prSet/>
      <dgm:spPr/>
      <dgm:t>
        <a:bodyPr/>
        <a:lstStyle/>
        <a:p>
          <a:endParaRPr lang="en-GB"/>
        </a:p>
      </dgm:t>
    </dgm:pt>
    <dgm:pt modelId="{FEFD641A-AAB3-485B-9334-4F7D852A5FFB}" type="sibTrans" cxnId="{AA143429-3ABA-43DB-8CB8-EB0BC0B4242B}">
      <dgm:prSet/>
      <dgm:spPr/>
      <dgm:t>
        <a:bodyPr/>
        <a:lstStyle/>
        <a:p>
          <a:endParaRPr lang="en-GB"/>
        </a:p>
      </dgm:t>
    </dgm:pt>
    <dgm:pt modelId="{A3CE89F4-821F-4C41-8B81-3BF373869570}">
      <dgm:prSet phldrT="[Text]" phldr="0" custT="1"/>
      <dgm:spPr/>
      <dgm:t>
        <a:bodyPr/>
        <a:lstStyle/>
        <a:p>
          <a:r>
            <a:rPr lang="en-GB" sz="1050" dirty="0"/>
            <a:t>DESIRE: </a:t>
          </a:r>
        </a:p>
        <a:p>
          <a:r>
            <a:rPr lang="en-GB" sz="900" i="1" dirty="0"/>
            <a:t>defines their objectives</a:t>
          </a:r>
        </a:p>
      </dgm:t>
    </dgm:pt>
    <dgm:pt modelId="{1D7E647F-7189-4FA9-96AE-786BD9C1E201}" type="parTrans" cxnId="{28A22E24-BDF3-464B-9E5D-92A5A7A9C9F5}">
      <dgm:prSet/>
      <dgm:spPr/>
      <dgm:t>
        <a:bodyPr/>
        <a:lstStyle/>
        <a:p>
          <a:endParaRPr lang="en-GB"/>
        </a:p>
      </dgm:t>
    </dgm:pt>
    <dgm:pt modelId="{A748B559-9601-4CF3-BDD9-6DE73A5F979C}" type="sibTrans" cxnId="{28A22E24-BDF3-464B-9E5D-92A5A7A9C9F5}">
      <dgm:prSet/>
      <dgm:spPr/>
      <dgm:t>
        <a:bodyPr/>
        <a:lstStyle/>
        <a:p>
          <a:endParaRPr lang="en-GB"/>
        </a:p>
      </dgm:t>
    </dgm:pt>
    <dgm:pt modelId="{6DD5D5BC-F355-4684-AC79-E23ACF9A5F7A}">
      <dgm:prSet phldrT="[Text]" phldr="0" custT="1"/>
      <dgm:spPr/>
      <dgm:t>
        <a:bodyPr/>
        <a:lstStyle/>
        <a:p>
          <a:r>
            <a:rPr lang="en-GB" sz="1000" dirty="0"/>
            <a:t>INTENTION </a:t>
          </a:r>
        </a:p>
        <a:p>
          <a:r>
            <a:rPr lang="en-GB" sz="900" i="1" dirty="0"/>
            <a:t>actions taken to achieve the goal</a:t>
          </a:r>
        </a:p>
      </dgm:t>
    </dgm:pt>
    <dgm:pt modelId="{5FD8C166-7E6B-4DBF-8751-E38F090ED683}" type="parTrans" cxnId="{C9C4D942-BFFA-4824-93D6-DA323A973BDB}">
      <dgm:prSet/>
      <dgm:spPr/>
      <dgm:t>
        <a:bodyPr/>
        <a:lstStyle/>
        <a:p>
          <a:endParaRPr lang="en-GB"/>
        </a:p>
      </dgm:t>
    </dgm:pt>
    <dgm:pt modelId="{F5E4FEA8-20DE-4B9A-ABCA-478CCFCCF1B7}" type="sibTrans" cxnId="{C9C4D942-BFFA-4824-93D6-DA323A973BDB}">
      <dgm:prSet/>
      <dgm:spPr/>
      <dgm:t>
        <a:bodyPr/>
        <a:lstStyle/>
        <a:p>
          <a:endParaRPr lang="en-GB"/>
        </a:p>
      </dgm:t>
    </dgm:pt>
    <dgm:pt modelId="{325D2BBC-9F3E-46BE-A98C-EF29622C8C65}" type="pres">
      <dgm:prSet presAssocID="{154EBDA5-641A-479C-9665-B8E04F9EBD5C}" presName="compositeShape" presStyleCnt="0">
        <dgm:presLayoutVars>
          <dgm:chMax val="7"/>
          <dgm:dir/>
          <dgm:resizeHandles val="exact"/>
        </dgm:presLayoutVars>
      </dgm:prSet>
      <dgm:spPr/>
    </dgm:pt>
    <dgm:pt modelId="{9C3F19D5-C877-42BE-8325-8B1F9675FA99}" type="pres">
      <dgm:prSet presAssocID="{154EBDA5-641A-479C-9665-B8E04F9EBD5C}" presName="wedge1" presStyleLbl="node1" presStyleIdx="0" presStyleCnt="3"/>
      <dgm:spPr/>
    </dgm:pt>
    <dgm:pt modelId="{932D413B-731F-4B06-8CDC-9AAF000B2E16}" type="pres">
      <dgm:prSet presAssocID="{154EBDA5-641A-479C-9665-B8E04F9EBD5C}" presName="dummy1a" presStyleCnt="0"/>
      <dgm:spPr/>
    </dgm:pt>
    <dgm:pt modelId="{21AEE178-981F-4FCB-891A-097C551E70E6}" type="pres">
      <dgm:prSet presAssocID="{154EBDA5-641A-479C-9665-B8E04F9EBD5C}" presName="dummy1b" presStyleCnt="0"/>
      <dgm:spPr/>
    </dgm:pt>
    <dgm:pt modelId="{7E9B4F77-3EA5-4412-9EE1-6A92935E397E}" type="pres">
      <dgm:prSet presAssocID="{154EBDA5-641A-479C-9665-B8E04F9EBD5C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6386B393-05DB-4DA6-9ADB-3CC04B364ADD}" type="pres">
      <dgm:prSet presAssocID="{154EBDA5-641A-479C-9665-B8E04F9EBD5C}" presName="wedge2" presStyleLbl="node1" presStyleIdx="1" presStyleCnt="3"/>
      <dgm:spPr/>
    </dgm:pt>
    <dgm:pt modelId="{620198FD-F3CE-4683-A175-B3646DDF78A4}" type="pres">
      <dgm:prSet presAssocID="{154EBDA5-641A-479C-9665-B8E04F9EBD5C}" presName="dummy2a" presStyleCnt="0"/>
      <dgm:spPr/>
    </dgm:pt>
    <dgm:pt modelId="{07D294B5-2CCF-4D50-8FF5-FBD9506B0DF7}" type="pres">
      <dgm:prSet presAssocID="{154EBDA5-641A-479C-9665-B8E04F9EBD5C}" presName="dummy2b" presStyleCnt="0"/>
      <dgm:spPr/>
    </dgm:pt>
    <dgm:pt modelId="{84A410B4-BA7D-4A5F-B745-6207A3C4503E}" type="pres">
      <dgm:prSet presAssocID="{154EBDA5-641A-479C-9665-B8E04F9EBD5C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819D1B8A-62FE-4AB3-A490-FE13295E8786}" type="pres">
      <dgm:prSet presAssocID="{154EBDA5-641A-479C-9665-B8E04F9EBD5C}" presName="wedge3" presStyleLbl="node1" presStyleIdx="2" presStyleCnt="3"/>
      <dgm:spPr/>
    </dgm:pt>
    <dgm:pt modelId="{420D1A39-CE50-40CF-AB14-C8A70B467C9C}" type="pres">
      <dgm:prSet presAssocID="{154EBDA5-641A-479C-9665-B8E04F9EBD5C}" presName="dummy3a" presStyleCnt="0"/>
      <dgm:spPr/>
    </dgm:pt>
    <dgm:pt modelId="{F8D27D88-D5F2-41C8-ADC5-600F6FFE75C7}" type="pres">
      <dgm:prSet presAssocID="{154EBDA5-641A-479C-9665-B8E04F9EBD5C}" presName="dummy3b" presStyleCnt="0"/>
      <dgm:spPr/>
    </dgm:pt>
    <dgm:pt modelId="{192AFC03-9E72-470B-B937-032115971B58}" type="pres">
      <dgm:prSet presAssocID="{154EBDA5-641A-479C-9665-B8E04F9EBD5C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  <dgm:pt modelId="{310A7488-BBF6-4371-A19C-E04943D1212B}" type="pres">
      <dgm:prSet presAssocID="{FEFD641A-AAB3-485B-9334-4F7D852A5FFB}" presName="arrowWedge1" presStyleLbl="fgSibTrans2D1" presStyleIdx="0" presStyleCnt="3"/>
      <dgm:spPr/>
    </dgm:pt>
    <dgm:pt modelId="{DC4AED9F-4D29-4FAA-9777-415C7486FD73}" type="pres">
      <dgm:prSet presAssocID="{A748B559-9601-4CF3-BDD9-6DE73A5F979C}" presName="arrowWedge2" presStyleLbl="fgSibTrans2D1" presStyleIdx="1" presStyleCnt="3"/>
      <dgm:spPr/>
    </dgm:pt>
    <dgm:pt modelId="{99EA2C14-C5C5-4493-A65E-F1B81C38759D}" type="pres">
      <dgm:prSet presAssocID="{F5E4FEA8-20DE-4B9A-ABCA-478CCFCCF1B7}" presName="arrowWedge3" presStyleLbl="fgSibTrans2D1" presStyleIdx="2" presStyleCnt="3"/>
      <dgm:spPr/>
    </dgm:pt>
  </dgm:ptLst>
  <dgm:cxnLst>
    <dgm:cxn modelId="{28A22E24-BDF3-464B-9E5D-92A5A7A9C9F5}" srcId="{154EBDA5-641A-479C-9665-B8E04F9EBD5C}" destId="{A3CE89F4-821F-4C41-8B81-3BF373869570}" srcOrd="1" destOrd="0" parTransId="{1D7E647F-7189-4FA9-96AE-786BD9C1E201}" sibTransId="{A748B559-9601-4CF3-BDD9-6DE73A5F979C}"/>
    <dgm:cxn modelId="{AA143429-3ABA-43DB-8CB8-EB0BC0B4242B}" srcId="{154EBDA5-641A-479C-9665-B8E04F9EBD5C}" destId="{C37EDDD1-7C70-446E-A3EC-52D15EA913D6}" srcOrd="0" destOrd="0" parTransId="{CAFDC4EA-0D38-4BDD-B2D3-8035D4E59784}" sibTransId="{FEFD641A-AAB3-485B-9334-4F7D852A5FFB}"/>
    <dgm:cxn modelId="{7C52725F-A940-408D-87DB-06CF7FAD3863}" type="presOf" srcId="{6DD5D5BC-F355-4684-AC79-E23ACF9A5F7A}" destId="{819D1B8A-62FE-4AB3-A490-FE13295E8786}" srcOrd="0" destOrd="0" presId="urn:microsoft.com/office/officeart/2005/8/layout/cycle8"/>
    <dgm:cxn modelId="{C9C4D942-BFFA-4824-93D6-DA323A973BDB}" srcId="{154EBDA5-641A-479C-9665-B8E04F9EBD5C}" destId="{6DD5D5BC-F355-4684-AC79-E23ACF9A5F7A}" srcOrd="2" destOrd="0" parTransId="{5FD8C166-7E6B-4DBF-8751-E38F090ED683}" sibTransId="{F5E4FEA8-20DE-4B9A-ABCA-478CCFCCF1B7}"/>
    <dgm:cxn modelId="{218E7C57-4B0D-43C1-805D-4915551BB346}" type="presOf" srcId="{C37EDDD1-7C70-446E-A3EC-52D15EA913D6}" destId="{9C3F19D5-C877-42BE-8325-8B1F9675FA99}" srcOrd="0" destOrd="0" presId="urn:microsoft.com/office/officeart/2005/8/layout/cycle8"/>
    <dgm:cxn modelId="{17E30C84-30F8-477A-8FB0-7A0DB352E34B}" type="presOf" srcId="{154EBDA5-641A-479C-9665-B8E04F9EBD5C}" destId="{325D2BBC-9F3E-46BE-A98C-EF29622C8C65}" srcOrd="0" destOrd="0" presId="urn:microsoft.com/office/officeart/2005/8/layout/cycle8"/>
    <dgm:cxn modelId="{0C8A459D-20B8-4A3A-A908-357294A446F0}" type="presOf" srcId="{A3CE89F4-821F-4C41-8B81-3BF373869570}" destId="{84A410B4-BA7D-4A5F-B745-6207A3C4503E}" srcOrd="1" destOrd="0" presId="urn:microsoft.com/office/officeart/2005/8/layout/cycle8"/>
    <dgm:cxn modelId="{F12FF7D7-CB46-462B-9BBB-635211BD58E6}" type="presOf" srcId="{C37EDDD1-7C70-446E-A3EC-52D15EA913D6}" destId="{7E9B4F77-3EA5-4412-9EE1-6A92935E397E}" srcOrd="1" destOrd="0" presId="urn:microsoft.com/office/officeart/2005/8/layout/cycle8"/>
    <dgm:cxn modelId="{6F6659E2-AABA-4779-B5A1-206345C7B48D}" type="presOf" srcId="{A3CE89F4-821F-4C41-8B81-3BF373869570}" destId="{6386B393-05DB-4DA6-9ADB-3CC04B364ADD}" srcOrd="0" destOrd="0" presId="urn:microsoft.com/office/officeart/2005/8/layout/cycle8"/>
    <dgm:cxn modelId="{7ECA1EFB-A7EA-4480-A554-320B457F6D7E}" type="presOf" srcId="{6DD5D5BC-F355-4684-AC79-E23ACF9A5F7A}" destId="{192AFC03-9E72-470B-B937-032115971B58}" srcOrd="1" destOrd="0" presId="urn:microsoft.com/office/officeart/2005/8/layout/cycle8"/>
    <dgm:cxn modelId="{F5A91DCF-9BFC-47C6-B4FB-DD5F4CA086F9}" type="presParOf" srcId="{325D2BBC-9F3E-46BE-A98C-EF29622C8C65}" destId="{9C3F19D5-C877-42BE-8325-8B1F9675FA99}" srcOrd="0" destOrd="0" presId="urn:microsoft.com/office/officeart/2005/8/layout/cycle8"/>
    <dgm:cxn modelId="{F8DA0710-1CD9-478F-915C-ED745FC0B213}" type="presParOf" srcId="{325D2BBC-9F3E-46BE-A98C-EF29622C8C65}" destId="{932D413B-731F-4B06-8CDC-9AAF000B2E16}" srcOrd="1" destOrd="0" presId="urn:microsoft.com/office/officeart/2005/8/layout/cycle8"/>
    <dgm:cxn modelId="{14B50E18-BFB6-485B-A14A-4A7555C81E0B}" type="presParOf" srcId="{325D2BBC-9F3E-46BE-A98C-EF29622C8C65}" destId="{21AEE178-981F-4FCB-891A-097C551E70E6}" srcOrd="2" destOrd="0" presId="urn:microsoft.com/office/officeart/2005/8/layout/cycle8"/>
    <dgm:cxn modelId="{996B4261-AAD6-4152-AD49-819D424EDB1C}" type="presParOf" srcId="{325D2BBC-9F3E-46BE-A98C-EF29622C8C65}" destId="{7E9B4F77-3EA5-4412-9EE1-6A92935E397E}" srcOrd="3" destOrd="0" presId="urn:microsoft.com/office/officeart/2005/8/layout/cycle8"/>
    <dgm:cxn modelId="{5D567861-544A-4665-B3D1-C7E1E9E8ACCC}" type="presParOf" srcId="{325D2BBC-9F3E-46BE-A98C-EF29622C8C65}" destId="{6386B393-05DB-4DA6-9ADB-3CC04B364ADD}" srcOrd="4" destOrd="0" presId="urn:microsoft.com/office/officeart/2005/8/layout/cycle8"/>
    <dgm:cxn modelId="{55F8F156-C443-4070-8D9A-E639C111451A}" type="presParOf" srcId="{325D2BBC-9F3E-46BE-A98C-EF29622C8C65}" destId="{620198FD-F3CE-4683-A175-B3646DDF78A4}" srcOrd="5" destOrd="0" presId="urn:microsoft.com/office/officeart/2005/8/layout/cycle8"/>
    <dgm:cxn modelId="{6B8FC8B8-9E0F-4DF8-97C1-1C227F3F13B9}" type="presParOf" srcId="{325D2BBC-9F3E-46BE-A98C-EF29622C8C65}" destId="{07D294B5-2CCF-4D50-8FF5-FBD9506B0DF7}" srcOrd="6" destOrd="0" presId="urn:microsoft.com/office/officeart/2005/8/layout/cycle8"/>
    <dgm:cxn modelId="{525CDE45-3F29-44C0-BAA0-434EE8A80EC4}" type="presParOf" srcId="{325D2BBC-9F3E-46BE-A98C-EF29622C8C65}" destId="{84A410B4-BA7D-4A5F-B745-6207A3C4503E}" srcOrd="7" destOrd="0" presId="urn:microsoft.com/office/officeart/2005/8/layout/cycle8"/>
    <dgm:cxn modelId="{88C36F98-A487-4B86-9336-643BB700EC1C}" type="presParOf" srcId="{325D2BBC-9F3E-46BE-A98C-EF29622C8C65}" destId="{819D1B8A-62FE-4AB3-A490-FE13295E8786}" srcOrd="8" destOrd="0" presId="urn:microsoft.com/office/officeart/2005/8/layout/cycle8"/>
    <dgm:cxn modelId="{FDE4947D-A7A6-4CC6-968A-1D4DCAD50185}" type="presParOf" srcId="{325D2BBC-9F3E-46BE-A98C-EF29622C8C65}" destId="{420D1A39-CE50-40CF-AB14-C8A70B467C9C}" srcOrd="9" destOrd="0" presId="urn:microsoft.com/office/officeart/2005/8/layout/cycle8"/>
    <dgm:cxn modelId="{D981FAF3-3957-40A8-A307-98FF17E32504}" type="presParOf" srcId="{325D2BBC-9F3E-46BE-A98C-EF29622C8C65}" destId="{F8D27D88-D5F2-41C8-ADC5-600F6FFE75C7}" srcOrd="10" destOrd="0" presId="urn:microsoft.com/office/officeart/2005/8/layout/cycle8"/>
    <dgm:cxn modelId="{41D88FC2-8E55-4170-9F9E-788998BB5A8D}" type="presParOf" srcId="{325D2BBC-9F3E-46BE-A98C-EF29622C8C65}" destId="{192AFC03-9E72-470B-B937-032115971B58}" srcOrd="11" destOrd="0" presId="urn:microsoft.com/office/officeart/2005/8/layout/cycle8"/>
    <dgm:cxn modelId="{FD8C0FAB-0C67-43B3-805E-024B606407A6}" type="presParOf" srcId="{325D2BBC-9F3E-46BE-A98C-EF29622C8C65}" destId="{310A7488-BBF6-4371-A19C-E04943D1212B}" srcOrd="12" destOrd="0" presId="urn:microsoft.com/office/officeart/2005/8/layout/cycle8"/>
    <dgm:cxn modelId="{03505FC9-70FB-48AB-A668-C8528171A473}" type="presParOf" srcId="{325D2BBC-9F3E-46BE-A98C-EF29622C8C65}" destId="{DC4AED9F-4D29-4FAA-9777-415C7486FD73}" srcOrd="13" destOrd="0" presId="urn:microsoft.com/office/officeart/2005/8/layout/cycle8"/>
    <dgm:cxn modelId="{59ADFEFE-2C84-4EA5-A86A-BF4F3A0027CB}" type="presParOf" srcId="{325D2BBC-9F3E-46BE-A98C-EF29622C8C65}" destId="{99EA2C14-C5C5-4493-A65E-F1B81C38759D}" srcOrd="1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3F19D5-C877-42BE-8325-8B1F9675FA99}">
      <dsp:nvSpPr>
        <dsp:cNvPr id="0" name=""/>
        <dsp:cNvSpPr/>
      </dsp:nvSpPr>
      <dsp:spPr>
        <a:xfrm>
          <a:off x="532146" y="137850"/>
          <a:ext cx="1781450" cy="1781450"/>
        </a:xfrm>
        <a:prstGeom prst="pie">
          <a:avLst>
            <a:gd name="adj1" fmla="val 16200000"/>
            <a:gd name="adj2" fmla="val 18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kern="1200" dirty="0"/>
            <a:t>BELIEF: </a:t>
          </a:r>
          <a:r>
            <a:rPr lang="en-GB" sz="900" i="1" kern="1200" dirty="0"/>
            <a:t>what they know</a:t>
          </a:r>
        </a:p>
      </dsp:txBody>
      <dsp:txXfrm>
        <a:off x="1471012" y="515348"/>
        <a:ext cx="636232" cy="530193"/>
      </dsp:txXfrm>
    </dsp:sp>
    <dsp:sp modelId="{6386B393-05DB-4DA6-9ADB-3CC04B364ADD}">
      <dsp:nvSpPr>
        <dsp:cNvPr id="0" name=""/>
        <dsp:cNvSpPr/>
      </dsp:nvSpPr>
      <dsp:spPr>
        <a:xfrm>
          <a:off x="495456" y="201473"/>
          <a:ext cx="1781450" cy="1781450"/>
        </a:xfrm>
        <a:prstGeom prst="pie">
          <a:avLst>
            <a:gd name="adj1" fmla="val 1800000"/>
            <a:gd name="adj2" fmla="val 90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kern="1200" dirty="0"/>
            <a:t>DESIRE: </a:t>
          </a:r>
        </a:p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900" i="1" kern="1200" dirty="0"/>
            <a:t>defines their objectives</a:t>
          </a:r>
        </a:p>
      </dsp:txBody>
      <dsp:txXfrm>
        <a:off x="919611" y="1357295"/>
        <a:ext cx="954348" cy="466570"/>
      </dsp:txXfrm>
    </dsp:sp>
    <dsp:sp modelId="{819D1B8A-62FE-4AB3-A490-FE13295E8786}">
      <dsp:nvSpPr>
        <dsp:cNvPr id="0" name=""/>
        <dsp:cNvSpPr/>
      </dsp:nvSpPr>
      <dsp:spPr>
        <a:xfrm>
          <a:off x="458767" y="137850"/>
          <a:ext cx="1781450" cy="1781450"/>
        </a:xfrm>
        <a:prstGeom prst="pie">
          <a:avLst>
            <a:gd name="adj1" fmla="val 90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kern="1200" dirty="0"/>
            <a:t>INTENTION 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900" i="1" kern="1200" dirty="0"/>
            <a:t>actions taken to achieve the goal</a:t>
          </a:r>
        </a:p>
      </dsp:txBody>
      <dsp:txXfrm>
        <a:off x="665118" y="515348"/>
        <a:ext cx="636232" cy="530193"/>
      </dsp:txXfrm>
    </dsp:sp>
    <dsp:sp modelId="{310A7488-BBF6-4371-A19C-E04943D1212B}">
      <dsp:nvSpPr>
        <dsp:cNvPr id="0" name=""/>
        <dsp:cNvSpPr/>
      </dsp:nvSpPr>
      <dsp:spPr>
        <a:xfrm>
          <a:off x="422013" y="27570"/>
          <a:ext cx="2002010" cy="2002010"/>
        </a:xfrm>
        <a:prstGeom prst="circularArrow">
          <a:avLst>
            <a:gd name="adj1" fmla="val 5085"/>
            <a:gd name="adj2" fmla="val 327528"/>
            <a:gd name="adj3" fmla="val 1472472"/>
            <a:gd name="adj4" fmla="val 16199432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4AED9F-4D29-4FAA-9777-415C7486FD73}">
      <dsp:nvSpPr>
        <dsp:cNvPr id="0" name=""/>
        <dsp:cNvSpPr/>
      </dsp:nvSpPr>
      <dsp:spPr>
        <a:xfrm>
          <a:off x="385176" y="91080"/>
          <a:ext cx="2002010" cy="2002010"/>
        </a:xfrm>
        <a:prstGeom prst="circularArrow">
          <a:avLst>
            <a:gd name="adj1" fmla="val 5085"/>
            <a:gd name="adj2" fmla="val 327528"/>
            <a:gd name="adj3" fmla="val 8671970"/>
            <a:gd name="adj4" fmla="val 1800502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EA2C14-C5C5-4493-A65E-F1B81C38759D}">
      <dsp:nvSpPr>
        <dsp:cNvPr id="0" name=""/>
        <dsp:cNvSpPr/>
      </dsp:nvSpPr>
      <dsp:spPr>
        <a:xfrm>
          <a:off x="348340" y="27570"/>
          <a:ext cx="2002010" cy="2002010"/>
        </a:xfrm>
        <a:prstGeom prst="circularArrow">
          <a:avLst>
            <a:gd name="adj1" fmla="val 5085"/>
            <a:gd name="adj2" fmla="val 327528"/>
            <a:gd name="adj3" fmla="val 15873039"/>
            <a:gd name="adj4" fmla="val 9000000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F12E8-1B91-D491-521C-006C1A1723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616A8B-3EF5-D882-47E5-BF62EB5224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8212ED-73E1-1AAE-6680-A7A885222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BB34A-48DD-112F-72FB-9803ED4EA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83785-4815-9E6C-BD2F-5BAC5B216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5006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47367-653E-F068-E56E-793980291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4E4F5-4FDB-130F-6454-A5B99ED54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35FC6-929A-4C1A-542D-A6CC7E4A3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4C7B2-A1F3-9FA8-D4F1-DE825B6C9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5A370-695C-2C3C-5CA5-16B101F0C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510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71887-E104-2636-76BD-0680C43C7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B4C36-FF35-61AD-ACDF-B8064233F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F515E9-CB5B-B71F-62F0-ECC1B8764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0924E-5898-15D8-F5DF-C1424BC05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DCDC6C-D826-5453-5A68-70CE2D347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6815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80760-808C-222D-950E-ECC8F6DAA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E3F4F-FEDA-3BB8-8409-07BB2E3F84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C708C9-42E7-5F6F-B568-D31E914807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27DF23-A86D-B1D9-2639-F3BADCB48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7BC45F-E447-621A-621C-A5254C4FE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CDF6A4-F8B7-5E1C-A5C1-A276BDFE2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5252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01742-D02E-251F-5C31-0C717C8B2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EC039D-FC12-3A45-FA07-C57DB8C8F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A59139-87B1-F8FF-4E13-C9AD33AC56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5F8D14-E32D-FE14-F8A9-D91A948E06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B9AA70-5568-2A4E-F01D-FE6AC6E5D0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DB4710-B71C-5492-5021-25D98E7D9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6F4052-C3B8-16A6-130B-F076DAA49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0F2184-72EF-ED20-0A06-75BB7BB7E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9191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B137D-E6F0-88F0-BCF6-74A71E53B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9BF786-F399-CD24-A3EC-B2B1E4B5D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53AF08-CB56-A41B-501D-DC2C27335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5F5966-DAFB-2649-D3F2-B909153C7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3356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7D2186-8CE2-7BDA-886B-E7B7B4FE2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4D61B8-B91A-6D8B-A2AB-1747A0CDF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15BAA-B2B9-ECBA-AB50-BCB7D92DC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8812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998E0-543D-7802-3F1D-8B11FE064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4EDDE-EA78-2646-34BF-1CC45E1DB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676B9-DAC0-4686-3B43-0137E50CB4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0BEB1A-F52D-2C72-DB1F-86F39B80F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DCBEC9-99DC-B36B-2A30-BD53E918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D942F-ABD6-61C2-45DB-E89E8B18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17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D7BB6-E536-8F67-D70C-832C04E8D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6346AA2-EA45-5C04-39DD-D96E048117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E7AF8A-8479-5866-2546-34093DB198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EEBC7-64E2-FC5A-BAC3-F72E28F6A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4E87EB-CA8F-04BC-9DA2-EC5DE4B47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E23F4E-2ABB-34EE-052D-80E3AD527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963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F5DCE-EC08-3DCD-DB04-880D64519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EBF1ED-7D79-3A6D-8E96-3417BD874C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85035-D4F0-F3B6-B777-E2D9529F3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4A069F-5D37-FD32-7C7E-3F156B674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44B489-38F1-E76B-38D9-190E087FE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062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B388B6-1FF4-0D30-2739-37145F8328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E2AB13-92E2-0DF8-7C40-BF23E93A4F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AE6BB-4452-FDFC-03B2-0AC61D707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D21F5-D0C0-456E-AEAC-32A62EF14BE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4883D0-9582-6767-82D6-DD3B0A5F1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08678F-28FF-F4CD-05AE-D3DB3AD5E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5950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35B28F-2E48-8610-434D-97387887E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DD3730-E74B-B712-DA5E-DEB396982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F047B5-5280-282A-78AA-B8D2581899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D21F5-D0C0-456E-AEAC-32A62EF14BE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0C564-BCC7-6E41-EE7B-9815228A7E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C3706B-2F16-EC56-336A-93C003C5B6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2F1A6F-1F1A-421A-A25B-39BC650E8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01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1.xml"/><Relationship Id="rId13" Type="http://schemas.openxmlformats.org/officeDocument/2006/relationships/image" Target="../media/image7.png"/><Relationship Id="rId18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microsoft.com/office/2007/relationships/diagramDrawing" Target="../diagrams/drawing1.xml"/><Relationship Id="rId17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diagramColors" Target="../diagrams/colors1.xml"/><Relationship Id="rId5" Type="http://schemas.openxmlformats.org/officeDocument/2006/relationships/image" Target="../media/image4.svg"/><Relationship Id="rId15" Type="http://schemas.openxmlformats.org/officeDocument/2006/relationships/image" Target="../media/image9.png"/><Relationship Id="rId10" Type="http://schemas.openxmlformats.org/officeDocument/2006/relationships/diagramQuickStyle" Target="../diagrams/quickStyle1.xml"/><Relationship Id="rId4" Type="http://schemas.openxmlformats.org/officeDocument/2006/relationships/image" Target="../media/image3.png"/><Relationship Id="rId9" Type="http://schemas.openxmlformats.org/officeDocument/2006/relationships/diagramLayout" Target="../diagrams/layout1.xml"/><Relationship Id="rId1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3EE30840-080F-8FBF-355B-774F84D831F0}"/>
              </a:ext>
            </a:extLst>
          </p:cNvPr>
          <p:cNvSpPr/>
          <p:nvPr/>
        </p:nvSpPr>
        <p:spPr>
          <a:xfrm>
            <a:off x="8176766" y="904947"/>
            <a:ext cx="3901324" cy="46444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6EB9174-C92D-6A62-37F4-2D03733C3858}"/>
              </a:ext>
            </a:extLst>
          </p:cNvPr>
          <p:cNvSpPr/>
          <p:nvPr/>
        </p:nvSpPr>
        <p:spPr>
          <a:xfrm>
            <a:off x="8176766" y="1424568"/>
            <a:ext cx="3901324" cy="46444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51E5171C-BBBF-886D-4A98-6BACEC7E39A6}"/>
              </a:ext>
            </a:extLst>
          </p:cNvPr>
          <p:cNvSpPr/>
          <p:nvPr/>
        </p:nvSpPr>
        <p:spPr>
          <a:xfrm>
            <a:off x="8176766" y="1944189"/>
            <a:ext cx="3901324" cy="46444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7A6401EE-BE40-EDCF-E02A-A3DAEF382676}"/>
              </a:ext>
            </a:extLst>
          </p:cNvPr>
          <p:cNvSpPr/>
          <p:nvPr/>
        </p:nvSpPr>
        <p:spPr>
          <a:xfrm>
            <a:off x="8176766" y="2463809"/>
            <a:ext cx="3901324" cy="46444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FC32DB-94D1-1080-D3AC-297AA5E735BA}"/>
              </a:ext>
            </a:extLst>
          </p:cNvPr>
          <p:cNvSpPr txBox="1"/>
          <p:nvPr/>
        </p:nvSpPr>
        <p:spPr>
          <a:xfrm>
            <a:off x="0" y="0"/>
            <a:ext cx="4572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latin typeface="Abadi" panose="020B0604020104020204" pitchFamily="34" charset="0"/>
              </a:rPr>
              <a:t>BIG DATA IN REAL-TIME OPTIMIZATION</a:t>
            </a:r>
          </a:p>
          <a:p>
            <a:r>
              <a:rPr lang="en-GB" sz="1400" i="1" dirty="0">
                <a:latin typeface="Abadi" panose="020B0604020104020204" pitchFamily="34" charset="0"/>
              </a:rPr>
              <a:t>Moving from </a:t>
            </a:r>
            <a:r>
              <a:rPr lang="en-GB" sz="1400" b="1" i="1" dirty="0">
                <a:latin typeface="Abadi" panose="020B0604020104020204" pitchFamily="34" charset="0"/>
              </a:rPr>
              <a:t>Reactive</a:t>
            </a:r>
            <a:r>
              <a:rPr lang="en-GB" sz="1400" i="1" dirty="0">
                <a:latin typeface="Abadi" panose="020B0604020104020204" pitchFamily="34" charset="0"/>
              </a:rPr>
              <a:t> to </a:t>
            </a:r>
            <a:r>
              <a:rPr lang="en-GB" sz="1400" b="1" i="1" dirty="0">
                <a:latin typeface="Abadi" panose="020B0604020104020204" pitchFamily="34" charset="0"/>
              </a:rPr>
              <a:t>Proactive</a:t>
            </a:r>
            <a:r>
              <a:rPr lang="en-GB" sz="1400" i="1" dirty="0">
                <a:latin typeface="Abadi" panose="020B0604020104020204" pitchFamily="34" charset="0"/>
              </a:rPr>
              <a:t> decision making </a:t>
            </a:r>
            <a:endParaRPr lang="en-GB" b="1" i="1" dirty="0">
              <a:latin typeface="Abadi" panose="020B0604020104020204" pitchFamily="34" charset="0"/>
            </a:endParaRPr>
          </a:p>
        </p:txBody>
      </p:sp>
      <p:pic>
        <p:nvPicPr>
          <p:cNvPr id="14" name="Graphic 13" descr="Left Brain with solid fill">
            <a:extLst>
              <a:ext uri="{FF2B5EF4-FFF2-40B4-BE49-F238E27FC236}">
                <a16:creationId xmlns:a16="http://schemas.microsoft.com/office/drawing/2014/main" id="{AAC704AC-6F6D-C464-A961-243191DB95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13085" y="640716"/>
            <a:ext cx="360000" cy="360000"/>
          </a:xfrm>
          <a:prstGeom prst="rect">
            <a:avLst/>
          </a:prstGeom>
        </p:spPr>
      </p:pic>
      <p:pic>
        <p:nvPicPr>
          <p:cNvPr id="16" name="Graphic 15" descr="Server with solid fill">
            <a:extLst>
              <a:ext uri="{FF2B5EF4-FFF2-40B4-BE49-F238E27FC236}">
                <a16:creationId xmlns:a16="http://schemas.microsoft.com/office/drawing/2014/main" id="{DAF06AB0-7FB6-42C8-1565-5A8239F6A9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03656" y="597172"/>
            <a:ext cx="360000" cy="360000"/>
          </a:xfrm>
          <a:prstGeom prst="rect">
            <a:avLst/>
          </a:prstGeom>
        </p:spPr>
      </p:pic>
      <p:pic>
        <p:nvPicPr>
          <p:cNvPr id="18" name="Graphic 17" descr="Network with solid fill">
            <a:extLst>
              <a:ext uri="{FF2B5EF4-FFF2-40B4-BE49-F238E27FC236}">
                <a16:creationId xmlns:a16="http://schemas.microsoft.com/office/drawing/2014/main" id="{994C7C80-CD52-DA77-D6D7-CB98EE7996F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4026" y="597172"/>
            <a:ext cx="360000" cy="360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1F047B2-84EA-E926-47C9-1DF05455900A}"/>
              </a:ext>
            </a:extLst>
          </p:cNvPr>
          <p:cNvSpPr txBox="1"/>
          <p:nvPr/>
        </p:nvSpPr>
        <p:spPr>
          <a:xfrm>
            <a:off x="113910" y="957171"/>
            <a:ext cx="1132116" cy="7617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Capture</a:t>
            </a:r>
          </a:p>
          <a:p>
            <a:r>
              <a:rPr lang="en-GB" sz="1050" i="1" dirty="0"/>
              <a:t>Multi-stream sensor data collected in-situ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5C6CA8-190B-6007-B0F3-F69A7A810590}"/>
              </a:ext>
            </a:extLst>
          </p:cNvPr>
          <p:cNvSpPr txBox="1"/>
          <p:nvPr/>
        </p:nvSpPr>
        <p:spPr>
          <a:xfrm>
            <a:off x="1806260" y="1000715"/>
            <a:ext cx="9217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Analyse</a:t>
            </a:r>
          </a:p>
          <a:p>
            <a:r>
              <a:rPr lang="en-GB" sz="1000" i="1" dirty="0"/>
              <a:t>ML models find patterns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4D966A-ADF6-E48B-1797-C1BC8F3CA8F6}"/>
              </a:ext>
            </a:extLst>
          </p:cNvPr>
          <p:cNvSpPr txBox="1"/>
          <p:nvPr/>
        </p:nvSpPr>
        <p:spPr>
          <a:xfrm>
            <a:off x="3304991" y="971072"/>
            <a:ext cx="11690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Optimize</a:t>
            </a:r>
          </a:p>
          <a:p>
            <a:r>
              <a:rPr lang="en-GB" sz="1000" i="1" dirty="0"/>
              <a:t> Algorithms run ‘What-if’ scenarios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5F49218-30BF-6530-801F-C079FCB166D8}"/>
              </a:ext>
            </a:extLst>
          </p:cNvPr>
          <p:cNvCxnSpPr/>
          <p:nvPr/>
        </p:nvCxnSpPr>
        <p:spPr>
          <a:xfrm>
            <a:off x="1066026" y="827314"/>
            <a:ext cx="555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FFD3715-2A8E-B279-802E-92C1D28210F6}"/>
              </a:ext>
            </a:extLst>
          </p:cNvPr>
          <p:cNvCxnSpPr/>
          <p:nvPr/>
        </p:nvCxnSpPr>
        <p:spPr>
          <a:xfrm flipH="1">
            <a:off x="2600912" y="827314"/>
            <a:ext cx="5442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99C106B-4062-185B-C311-245DA95F48A4}"/>
              </a:ext>
            </a:extLst>
          </p:cNvPr>
          <p:cNvSpPr txBox="1"/>
          <p:nvPr/>
        </p:nvSpPr>
        <p:spPr>
          <a:xfrm>
            <a:off x="0" y="1758890"/>
            <a:ext cx="5253521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Speed: </a:t>
            </a:r>
            <a:r>
              <a:rPr lang="en-GB" sz="1200" i="1" dirty="0"/>
              <a:t>rapid scenario analysis &amp; response to operational disruptions</a:t>
            </a:r>
            <a:endParaRPr lang="en-GB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Agility: </a:t>
            </a:r>
            <a:r>
              <a:rPr lang="en-GB" sz="1200" i="1" dirty="0"/>
              <a:t>continuous improvement through self-learning algos</a:t>
            </a:r>
            <a:endParaRPr lang="en-GB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Integration: </a:t>
            </a:r>
            <a:r>
              <a:rPr lang="en-GB" sz="1200" i="1" dirty="0"/>
              <a:t>integration between physical systems and enterprise-level strategies</a:t>
            </a:r>
            <a:r>
              <a:rPr lang="en-GB" sz="1200" b="1" dirty="0"/>
              <a:t>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49FDA6-1A92-DB2C-D84B-642389CF5A3B}"/>
              </a:ext>
            </a:extLst>
          </p:cNvPr>
          <p:cNvSpPr txBox="1"/>
          <p:nvPr/>
        </p:nvSpPr>
        <p:spPr>
          <a:xfrm>
            <a:off x="2481157" y="2681928"/>
            <a:ext cx="2772364" cy="12003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GB" sz="1200" b="1" dirty="0"/>
              <a:t>Volume : </a:t>
            </a:r>
            <a:r>
              <a:rPr lang="en-GB" sz="1200" dirty="0"/>
              <a:t>scale of data processed</a:t>
            </a:r>
            <a:endParaRPr lang="en-GB" sz="1200" b="1" dirty="0"/>
          </a:p>
          <a:p>
            <a:r>
              <a:rPr lang="en-GB" sz="1200" b="1" dirty="0"/>
              <a:t>Velocity: </a:t>
            </a:r>
            <a:r>
              <a:rPr lang="en-GB" sz="1200" dirty="0"/>
              <a:t>speed at which data is generated &amp; processed</a:t>
            </a:r>
            <a:endParaRPr lang="en-GB" sz="1200" b="1" dirty="0"/>
          </a:p>
          <a:p>
            <a:r>
              <a:rPr lang="en-GB" sz="1200" b="1" dirty="0"/>
              <a:t>Variety: </a:t>
            </a:r>
            <a:r>
              <a:rPr lang="en-GB" sz="1200" dirty="0"/>
              <a:t>diversity of data types &amp; formats</a:t>
            </a:r>
            <a:endParaRPr lang="en-GB" sz="1200" b="1" dirty="0"/>
          </a:p>
          <a:p>
            <a:r>
              <a:rPr lang="en-GB" sz="1200" b="1" dirty="0"/>
              <a:t>Veracity: </a:t>
            </a:r>
            <a:r>
              <a:rPr lang="en-GB" sz="1200" dirty="0"/>
              <a:t>reliability &amp; accuracy of data</a:t>
            </a:r>
            <a:endParaRPr lang="en-GB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DBA4F58-9339-1A96-F0F5-F9E55621C316}"/>
              </a:ext>
            </a:extLst>
          </p:cNvPr>
          <p:cNvSpPr txBox="1"/>
          <p:nvPr/>
        </p:nvSpPr>
        <p:spPr>
          <a:xfrm>
            <a:off x="0" y="4886654"/>
            <a:ext cx="5334000" cy="181588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GB" sz="1600" b="1" dirty="0"/>
              <a:t>DOMAINS IN BIG DATA</a:t>
            </a:r>
          </a:p>
          <a:p>
            <a:pPr marL="285750" indent="-285750">
              <a:buFontTx/>
              <a:buChar char="-"/>
            </a:pPr>
            <a:r>
              <a:rPr lang="en-GB" sz="1200" b="1" dirty="0"/>
              <a:t>Adaptive diagnostics &amp; prognosis: </a:t>
            </a:r>
            <a:r>
              <a:rPr lang="en-GB" sz="1200" dirty="0"/>
              <a:t>Uses real‑time and historical data to detect issues early and predict future failures.</a:t>
            </a:r>
          </a:p>
          <a:p>
            <a:pPr marL="285750" indent="-285750">
              <a:buFontTx/>
              <a:buChar char="-"/>
            </a:pPr>
            <a:r>
              <a:rPr lang="en-GB" sz="1200" b="1" dirty="0"/>
              <a:t>Predictive analytics: </a:t>
            </a:r>
            <a:r>
              <a:rPr lang="en-GB" sz="1200" dirty="0"/>
              <a:t>Analyses large datasets to forecast trends, behaviours, and outcomes.</a:t>
            </a:r>
            <a:endParaRPr lang="en-GB" sz="1200" b="1" dirty="0"/>
          </a:p>
          <a:p>
            <a:pPr marL="285750" indent="-285750">
              <a:buFontTx/>
              <a:buChar char="-"/>
            </a:pPr>
            <a:r>
              <a:rPr lang="en-GB" sz="1200" b="1" dirty="0"/>
              <a:t>Process control &amp; monitoring</a:t>
            </a:r>
            <a:r>
              <a:rPr lang="en-GB" sz="1200" dirty="0"/>
              <a:t>: tracks operations continuously  to maintain efficiency, quality and stability</a:t>
            </a:r>
          </a:p>
          <a:p>
            <a:pPr marL="285750" indent="-285750">
              <a:buFontTx/>
              <a:buChar char="-"/>
            </a:pPr>
            <a:r>
              <a:rPr lang="en-GB" sz="1200" b="1" dirty="0"/>
              <a:t>Maintenance &amp; services logistics: </a:t>
            </a:r>
            <a:r>
              <a:rPr lang="en-GB" sz="1200" dirty="0"/>
              <a:t>Optimizes when &amp; how maintenance happens to reduce downtime and improve resource planning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DE59F9-3329-7F31-EA04-4F44E6903FEC}"/>
              </a:ext>
            </a:extLst>
          </p:cNvPr>
          <p:cNvSpPr txBox="1"/>
          <p:nvPr/>
        </p:nvSpPr>
        <p:spPr>
          <a:xfrm>
            <a:off x="5253520" y="-22554"/>
            <a:ext cx="69384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COGNITIVE AGENTS</a:t>
            </a:r>
          </a:p>
          <a:p>
            <a:r>
              <a:rPr lang="en-GB" sz="1200" i="1" dirty="0"/>
              <a:t>Mimic human reasoning by perceived information, interpreting it  and making autonomous decisions based on defined goals </a:t>
            </a:r>
          </a:p>
        </p:txBody>
      </p:sp>
      <p:graphicFrame>
        <p:nvGraphicFramePr>
          <p:cNvPr id="36" name="Diagram 35">
            <a:extLst>
              <a:ext uri="{FF2B5EF4-FFF2-40B4-BE49-F238E27FC236}">
                <a16:creationId xmlns:a16="http://schemas.microsoft.com/office/drawing/2014/main" id="{2A1F254C-B4CB-F9A4-B60C-0B8465AE45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8881207"/>
              </p:ext>
            </p:extLst>
          </p:nvPr>
        </p:nvGraphicFramePr>
        <p:xfrm>
          <a:off x="5212715" y="807483"/>
          <a:ext cx="2772364" cy="21207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pSp>
        <p:nvGrpSpPr>
          <p:cNvPr id="50" name="Group 49">
            <a:extLst>
              <a:ext uri="{FF2B5EF4-FFF2-40B4-BE49-F238E27FC236}">
                <a16:creationId xmlns:a16="http://schemas.microsoft.com/office/drawing/2014/main" id="{61054D9A-D21A-26D7-5969-5ED9B635316B}"/>
              </a:ext>
            </a:extLst>
          </p:cNvPr>
          <p:cNvGrpSpPr/>
          <p:nvPr/>
        </p:nvGrpSpPr>
        <p:grpSpPr>
          <a:xfrm>
            <a:off x="8273966" y="957171"/>
            <a:ext cx="2195778" cy="360000"/>
            <a:chOff x="8080336" y="829363"/>
            <a:chExt cx="2195778" cy="360000"/>
          </a:xfrm>
        </p:grpSpPr>
        <p:pic>
          <p:nvPicPr>
            <p:cNvPr id="42" name="Graphic 41" descr="Database with solid fill">
              <a:extLst>
                <a:ext uri="{FF2B5EF4-FFF2-40B4-BE49-F238E27FC236}">
                  <a16:creationId xmlns:a16="http://schemas.microsoft.com/office/drawing/2014/main" id="{89C13A92-B60B-E704-1507-88F1BDA4DA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8080336" y="829363"/>
              <a:ext cx="360000" cy="360000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C013A23-2F2E-0EE7-D007-AD165FB54275}"/>
                </a:ext>
              </a:extLst>
            </p:cNvPr>
            <p:cNvSpPr txBox="1"/>
            <p:nvPr/>
          </p:nvSpPr>
          <p:spPr>
            <a:xfrm>
              <a:off x="8535593" y="862215"/>
              <a:ext cx="17405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Autonomous databases 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56094AA-D493-7640-737B-3B553ED0645B}"/>
              </a:ext>
            </a:extLst>
          </p:cNvPr>
          <p:cNvGrpSpPr/>
          <p:nvPr/>
        </p:nvGrpSpPr>
        <p:grpSpPr>
          <a:xfrm>
            <a:off x="8273966" y="1464757"/>
            <a:ext cx="2848921" cy="360000"/>
            <a:chOff x="8080336" y="1336949"/>
            <a:chExt cx="2848921" cy="360000"/>
          </a:xfrm>
        </p:grpSpPr>
        <p:pic>
          <p:nvPicPr>
            <p:cNvPr id="40" name="Graphic 39" descr="Upload with solid fill">
              <a:extLst>
                <a:ext uri="{FF2B5EF4-FFF2-40B4-BE49-F238E27FC236}">
                  <a16:creationId xmlns:a16="http://schemas.microsoft.com/office/drawing/2014/main" id="{F86A4447-6F45-CBF1-D9AE-7FF1E68DC8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080336" y="1336949"/>
              <a:ext cx="360000" cy="36000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6E984F7-543B-8152-C37B-3743BB5D7DE3}"/>
                </a:ext>
              </a:extLst>
            </p:cNvPr>
            <p:cNvSpPr txBox="1"/>
            <p:nvPr/>
          </p:nvSpPr>
          <p:spPr>
            <a:xfrm>
              <a:off x="8595439" y="1369755"/>
              <a:ext cx="233381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Autonomous data warehouses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2D72AFA-B30E-6D58-04E5-92698080971B}"/>
              </a:ext>
            </a:extLst>
          </p:cNvPr>
          <p:cNvGrpSpPr/>
          <p:nvPr/>
        </p:nvGrpSpPr>
        <p:grpSpPr>
          <a:xfrm>
            <a:off x="8284253" y="2006747"/>
            <a:ext cx="2630459" cy="360000"/>
            <a:chOff x="8080336" y="1814388"/>
            <a:chExt cx="2630459" cy="360000"/>
          </a:xfrm>
        </p:grpSpPr>
        <p:pic>
          <p:nvPicPr>
            <p:cNvPr id="38" name="Graphic 37" descr="Internet with solid fill">
              <a:extLst>
                <a:ext uri="{FF2B5EF4-FFF2-40B4-BE49-F238E27FC236}">
                  <a16:creationId xmlns:a16="http://schemas.microsoft.com/office/drawing/2014/main" id="{D57C36B0-ADDC-BB30-A792-973623B988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8080336" y="1814388"/>
              <a:ext cx="360000" cy="36000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FE5C83B-FDC9-194B-567E-F20212397A5B}"/>
                </a:ext>
              </a:extLst>
            </p:cNvPr>
            <p:cNvSpPr txBox="1"/>
            <p:nvPr/>
          </p:nvSpPr>
          <p:spPr>
            <a:xfrm>
              <a:off x="8535593" y="1814388"/>
              <a:ext cx="217520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Content management systems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CF8E725-4D31-AA0D-DF3A-366DBB909FF0}"/>
              </a:ext>
            </a:extLst>
          </p:cNvPr>
          <p:cNvGrpSpPr/>
          <p:nvPr/>
        </p:nvGrpSpPr>
        <p:grpSpPr>
          <a:xfrm>
            <a:off x="8303889" y="2501928"/>
            <a:ext cx="2165855" cy="360000"/>
            <a:chOff x="8110259" y="2321928"/>
            <a:chExt cx="2165855" cy="360000"/>
          </a:xfrm>
        </p:grpSpPr>
        <p:pic>
          <p:nvPicPr>
            <p:cNvPr id="45" name="Graphic 44" descr="Server with solid fill">
              <a:extLst>
                <a:ext uri="{FF2B5EF4-FFF2-40B4-BE49-F238E27FC236}">
                  <a16:creationId xmlns:a16="http://schemas.microsoft.com/office/drawing/2014/main" id="{DD3FF253-9042-0526-A9D9-44F4C8831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110259" y="2321928"/>
              <a:ext cx="360000" cy="360000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63AEAA2-6AC0-0773-4325-59023D7619BA}"/>
                </a:ext>
              </a:extLst>
            </p:cNvPr>
            <p:cNvSpPr txBox="1"/>
            <p:nvPr/>
          </p:nvSpPr>
          <p:spPr>
            <a:xfrm>
              <a:off x="8595439" y="2321928"/>
              <a:ext cx="16806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Computational clusters</a:t>
              </a:r>
            </a:p>
          </p:txBody>
        </p: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B5538372-DBA7-6580-A4E9-E770BB228F76}"/>
              </a:ext>
            </a:extLst>
          </p:cNvPr>
          <p:cNvSpPr txBox="1"/>
          <p:nvPr/>
        </p:nvSpPr>
        <p:spPr>
          <a:xfrm>
            <a:off x="5370938" y="3019630"/>
            <a:ext cx="31350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BIOMEDICAL RESEARCH: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Image processing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Signal processing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Genomics</a:t>
            </a:r>
          </a:p>
        </p:txBody>
      </p:sp>
    </p:spTree>
    <p:extLst>
      <p:ext uri="{BB962C8B-B14F-4D97-AF65-F5344CB8AC3E}">
        <p14:creationId xmlns:p14="http://schemas.microsoft.com/office/powerpoint/2010/main" val="42176087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 2">
      <a:majorFont>
        <a:latin typeface="Abadi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215</Words>
  <Application>Microsoft Office PowerPoint</Application>
  <PresentationFormat>Widescreen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Abadi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Dorothy Cheruiyot</dc:creator>
  <cp:lastModifiedBy>Dorothy Cheruiyot</cp:lastModifiedBy>
  <cp:revision>1</cp:revision>
  <dcterms:created xsi:type="dcterms:W3CDTF">2026-02-01T18:27:05Z</dcterms:created>
  <dcterms:modified xsi:type="dcterms:W3CDTF">2026-02-01T21:54:57Z</dcterms:modified>
</cp:coreProperties>
</file>