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4EBDA5-641A-479C-9665-B8E04F9EBD5C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C37EDDD1-7C70-446E-A3EC-52D15EA913D6}">
      <dgm:prSet phldrT="[Text]" phldr="0" custT="1"/>
      <dgm:spPr/>
      <dgm:t>
        <a:bodyPr/>
        <a:lstStyle/>
        <a:p>
          <a:r>
            <a:rPr lang="en-GB" sz="1050" dirty="0"/>
            <a:t>BELIEF: </a:t>
          </a:r>
          <a:r>
            <a:rPr lang="en-GB" sz="900" i="1" dirty="0"/>
            <a:t>what they know</a:t>
          </a:r>
        </a:p>
      </dgm:t>
    </dgm:pt>
    <dgm:pt modelId="{CAFDC4EA-0D38-4BDD-B2D3-8035D4E59784}" type="parTrans" cxnId="{AA143429-3ABA-43DB-8CB8-EB0BC0B4242B}">
      <dgm:prSet/>
      <dgm:spPr/>
      <dgm:t>
        <a:bodyPr/>
        <a:lstStyle/>
        <a:p>
          <a:endParaRPr lang="en-GB"/>
        </a:p>
      </dgm:t>
    </dgm:pt>
    <dgm:pt modelId="{FEFD641A-AAB3-485B-9334-4F7D852A5FFB}" type="sibTrans" cxnId="{AA143429-3ABA-43DB-8CB8-EB0BC0B4242B}">
      <dgm:prSet/>
      <dgm:spPr/>
      <dgm:t>
        <a:bodyPr/>
        <a:lstStyle/>
        <a:p>
          <a:endParaRPr lang="en-GB"/>
        </a:p>
      </dgm:t>
    </dgm:pt>
    <dgm:pt modelId="{A3CE89F4-821F-4C41-8B81-3BF373869570}">
      <dgm:prSet phldrT="[Text]" phldr="0" custT="1"/>
      <dgm:spPr/>
      <dgm:t>
        <a:bodyPr/>
        <a:lstStyle/>
        <a:p>
          <a:r>
            <a:rPr lang="en-GB" sz="1050" dirty="0"/>
            <a:t>DESIRE: </a:t>
          </a:r>
        </a:p>
        <a:p>
          <a:r>
            <a:rPr lang="en-GB" sz="900" i="1" dirty="0"/>
            <a:t>defines their objectives</a:t>
          </a:r>
        </a:p>
      </dgm:t>
    </dgm:pt>
    <dgm:pt modelId="{1D7E647F-7189-4FA9-96AE-786BD9C1E201}" type="parTrans" cxnId="{28A22E24-BDF3-464B-9E5D-92A5A7A9C9F5}">
      <dgm:prSet/>
      <dgm:spPr/>
      <dgm:t>
        <a:bodyPr/>
        <a:lstStyle/>
        <a:p>
          <a:endParaRPr lang="en-GB"/>
        </a:p>
      </dgm:t>
    </dgm:pt>
    <dgm:pt modelId="{A748B559-9601-4CF3-BDD9-6DE73A5F979C}" type="sibTrans" cxnId="{28A22E24-BDF3-464B-9E5D-92A5A7A9C9F5}">
      <dgm:prSet/>
      <dgm:spPr/>
      <dgm:t>
        <a:bodyPr/>
        <a:lstStyle/>
        <a:p>
          <a:endParaRPr lang="en-GB"/>
        </a:p>
      </dgm:t>
    </dgm:pt>
    <dgm:pt modelId="{6DD5D5BC-F355-4684-AC79-E23ACF9A5F7A}">
      <dgm:prSet phldrT="[Text]" phldr="0" custT="1"/>
      <dgm:spPr/>
      <dgm:t>
        <a:bodyPr/>
        <a:lstStyle/>
        <a:p>
          <a:r>
            <a:rPr lang="en-GB" sz="1000" dirty="0"/>
            <a:t> INTENTION </a:t>
          </a:r>
        </a:p>
        <a:p>
          <a:r>
            <a:rPr lang="en-GB" sz="900" i="1" dirty="0"/>
            <a:t>actions taken to achieve the goal</a:t>
          </a:r>
        </a:p>
      </dgm:t>
    </dgm:pt>
    <dgm:pt modelId="{5FD8C166-7E6B-4DBF-8751-E38F090ED683}" type="parTrans" cxnId="{C9C4D942-BFFA-4824-93D6-DA323A973BDB}">
      <dgm:prSet/>
      <dgm:spPr/>
      <dgm:t>
        <a:bodyPr/>
        <a:lstStyle/>
        <a:p>
          <a:endParaRPr lang="en-GB"/>
        </a:p>
      </dgm:t>
    </dgm:pt>
    <dgm:pt modelId="{F5E4FEA8-20DE-4B9A-ABCA-478CCFCCF1B7}" type="sibTrans" cxnId="{C9C4D942-BFFA-4824-93D6-DA323A973BDB}">
      <dgm:prSet/>
      <dgm:spPr/>
      <dgm:t>
        <a:bodyPr/>
        <a:lstStyle/>
        <a:p>
          <a:endParaRPr lang="en-GB"/>
        </a:p>
      </dgm:t>
    </dgm:pt>
    <dgm:pt modelId="{325D2BBC-9F3E-46BE-A98C-EF29622C8C65}" type="pres">
      <dgm:prSet presAssocID="{154EBDA5-641A-479C-9665-B8E04F9EBD5C}" presName="compositeShape" presStyleCnt="0">
        <dgm:presLayoutVars>
          <dgm:chMax val="7"/>
          <dgm:dir/>
          <dgm:resizeHandles val="exact"/>
        </dgm:presLayoutVars>
      </dgm:prSet>
      <dgm:spPr/>
    </dgm:pt>
    <dgm:pt modelId="{9C3F19D5-C877-42BE-8325-8B1F9675FA99}" type="pres">
      <dgm:prSet presAssocID="{154EBDA5-641A-479C-9665-B8E04F9EBD5C}" presName="wedge1" presStyleLbl="node1" presStyleIdx="0" presStyleCnt="3"/>
      <dgm:spPr/>
    </dgm:pt>
    <dgm:pt modelId="{932D413B-731F-4B06-8CDC-9AAF000B2E16}" type="pres">
      <dgm:prSet presAssocID="{154EBDA5-641A-479C-9665-B8E04F9EBD5C}" presName="dummy1a" presStyleCnt="0"/>
      <dgm:spPr/>
    </dgm:pt>
    <dgm:pt modelId="{21AEE178-981F-4FCB-891A-097C551E70E6}" type="pres">
      <dgm:prSet presAssocID="{154EBDA5-641A-479C-9665-B8E04F9EBD5C}" presName="dummy1b" presStyleCnt="0"/>
      <dgm:spPr/>
    </dgm:pt>
    <dgm:pt modelId="{7E9B4F77-3EA5-4412-9EE1-6A92935E397E}" type="pres">
      <dgm:prSet presAssocID="{154EBDA5-641A-479C-9665-B8E04F9EBD5C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6386B393-05DB-4DA6-9ADB-3CC04B364ADD}" type="pres">
      <dgm:prSet presAssocID="{154EBDA5-641A-479C-9665-B8E04F9EBD5C}" presName="wedge2" presStyleLbl="node1" presStyleIdx="1" presStyleCnt="3"/>
      <dgm:spPr/>
    </dgm:pt>
    <dgm:pt modelId="{620198FD-F3CE-4683-A175-B3646DDF78A4}" type="pres">
      <dgm:prSet presAssocID="{154EBDA5-641A-479C-9665-B8E04F9EBD5C}" presName="dummy2a" presStyleCnt="0"/>
      <dgm:spPr/>
    </dgm:pt>
    <dgm:pt modelId="{07D294B5-2CCF-4D50-8FF5-FBD9506B0DF7}" type="pres">
      <dgm:prSet presAssocID="{154EBDA5-641A-479C-9665-B8E04F9EBD5C}" presName="dummy2b" presStyleCnt="0"/>
      <dgm:spPr/>
    </dgm:pt>
    <dgm:pt modelId="{84A410B4-BA7D-4A5F-B745-6207A3C4503E}" type="pres">
      <dgm:prSet presAssocID="{154EBDA5-641A-479C-9665-B8E04F9EBD5C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819D1B8A-62FE-4AB3-A490-FE13295E8786}" type="pres">
      <dgm:prSet presAssocID="{154EBDA5-641A-479C-9665-B8E04F9EBD5C}" presName="wedge3" presStyleLbl="node1" presStyleIdx="2" presStyleCnt="3"/>
      <dgm:spPr/>
    </dgm:pt>
    <dgm:pt modelId="{420D1A39-CE50-40CF-AB14-C8A70B467C9C}" type="pres">
      <dgm:prSet presAssocID="{154EBDA5-641A-479C-9665-B8E04F9EBD5C}" presName="dummy3a" presStyleCnt="0"/>
      <dgm:spPr/>
    </dgm:pt>
    <dgm:pt modelId="{F8D27D88-D5F2-41C8-ADC5-600F6FFE75C7}" type="pres">
      <dgm:prSet presAssocID="{154EBDA5-641A-479C-9665-B8E04F9EBD5C}" presName="dummy3b" presStyleCnt="0"/>
      <dgm:spPr/>
    </dgm:pt>
    <dgm:pt modelId="{192AFC03-9E72-470B-B937-032115971B58}" type="pres">
      <dgm:prSet presAssocID="{154EBDA5-641A-479C-9665-B8E04F9EBD5C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  <dgm:pt modelId="{310A7488-BBF6-4371-A19C-E04943D1212B}" type="pres">
      <dgm:prSet presAssocID="{FEFD641A-AAB3-485B-9334-4F7D852A5FFB}" presName="arrowWedge1" presStyleLbl="fgSibTrans2D1" presStyleIdx="0" presStyleCnt="3"/>
      <dgm:spPr/>
    </dgm:pt>
    <dgm:pt modelId="{DC4AED9F-4D29-4FAA-9777-415C7486FD73}" type="pres">
      <dgm:prSet presAssocID="{A748B559-9601-4CF3-BDD9-6DE73A5F979C}" presName="arrowWedge2" presStyleLbl="fgSibTrans2D1" presStyleIdx="1" presStyleCnt="3"/>
      <dgm:spPr/>
    </dgm:pt>
    <dgm:pt modelId="{99EA2C14-C5C5-4493-A65E-F1B81C38759D}" type="pres">
      <dgm:prSet presAssocID="{F5E4FEA8-20DE-4B9A-ABCA-478CCFCCF1B7}" presName="arrowWedge3" presStyleLbl="fgSibTrans2D1" presStyleIdx="2" presStyleCnt="3"/>
      <dgm:spPr/>
    </dgm:pt>
  </dgm:ptLst>
  <dgm:cxnLst>
    <dgm:cxn modelId="{28A22E24-BDF3-464B-9E5D-92A5A7A9C9F5}" srcId="{154EBDA5-641A-479C-9665-B8E04F9EBD5C}" destId="{A3CE89F4-821F-4C41-8B81-3BF373869570}" srcOrd="1" destOrd="0" parTransId="{1D7E647F-7189-4FA9-96AE-786BD9C1E201}" sibTransId="{A748B559-9601-4CF3-BDD9-6DE73A5F979C}"/>
    <dgm:cxn modelId="{AA143429-3ABA-43DB-8CB8-EB0BC0B4242B}" srcId="{154EBDA5-641A-479C-9665-B8E04F9EBD5C}" destId="{C37EDDD1-7C70-446E-A3EC-52D15EA913D6}" srcOrd="0" destOrd="0" parTransId="{CAFDC4EA-0D38-4BDD-B2D3-8035D4E59784}" sibTransId="{FEFD641A-AAB3-485B-9334-4F7D852A5FFB}"/>
    <dgm:cxn modelId="{7C52725F-A940-408D-87DB-06CF7FAD3863}" type="presOf" srcId="{6DD5D5BC-F355-4684-AC79-E23ACF9A5F7A}" destId="{819D1B8A-62FE-4AB3-A490-FE13295E8786}" srcOrd="0" destOrd="0" presId="urn:microsoft.com/office/officeart/2005/8/layout/cycle8"/>
    <dgm:cxn modelId="{C9C4D942-BFFA-4824-93D6-DA323A973BDB}" srcId="{154EBDA5-641A-479C-9665-B8E04F9EBD5C}" destId="{6DD5D5BC-F355-4684-AC79-E23ACF9A5F7A}" srcOrd="2" destOrd="0" parTransId="{5FD8C166-7E6B-4DBF-8751-E38F090ED683}" sibTransId="{F5E4FEA8-20DE-4B9A-ABCA-478CCFCCF1B7}"/>
    <dgm:cxn modelId="{218E7C57-4B0D-43C1-805D-4915551BB346}" type="presOf" srcId="{C37EDDD1-7C70-446E-A3EC-52D15EA913D6}" destId="{9C3F19D5-C877-42BE-8325-8B1F9675FA99}" srcOrd="0" destOrd="0" presId="urn:microsoft.com/office/officeart/2005/8/layout/cycle8"/>
    <dgm:cxn modelId="{17E30C84-30F8-477A-8FB0-7A0DB352E34B}" type="presOf" srcId="{154EBDA5-641A-479C-9665-B8E04F9EBD5C}" destId="{325D2BBC-9F3E-46BE-A98C-EF29622C8C65}" srcOrd="0" destOrd="0" presId="urn:microsoft.com/office/officeart/2005/8/layout/cycle8"/>
    <dgm:cxn modelId="{0C8A459D-20B8-4A3A-A908-357294A446F0}" type="presOf" srcId="{A3CE89F4-821F-4C41-8B81-3BF373869570}" destId="{84A410B4-BA7D-4A5F-B745-6207A3C4503E}" srcOrd="1" destOrd="0" presId="urn:microsoft.com/office/officeart/2005/8/layout/cycle8"/>
    <dgm:cxn modelId="{F12FF7D7-CB46-462B-9BBB-635211BD58E6}" type="presOf" srcId="{C37EDDD1-7C70-446E-A3EC-52D15EA913D6}" destId="{7E9B4F77-3EA5-4412-9EE1-6A92935E397E}" srcOrd="1" destOrd="0" presId="urn:microsoft.com/office/officeart/2005/8/layout/cycle8"/>
    <dgm:cxn modelId="{6F6659E2-AABA-4779-B5A1-206345C7B48D}" type="presOf" srcId="{A3CE89F4-821F-4C41-8B81-3BF373869570}" destId="{6386B393-05DB-4DA6-9ADB-3CC04B364ADD}" srcOrd="0" destOrd="0" presId="urn:microsoft.com/office/officeart/2005/8/layout/cycle8"/>
    <dgm:cxn modelId="{7ECA1EFB-A7EA-4480-A554-320B457F6D7E}" type="presOf" srcId="{6DD5D5BC-F355-4684-AC79-E23ACF9A5F7A}" destId="{192AFC03-9E72-470B-B937-032115971B58}" srcOrd="1" destOrd="0" presId="urn:microsoft.com/office/officeart/2005/8/layout/cycle8"/>
    <dgm:cxn modelId="{F5A91DCF-9BFC-47C6-B4FB-DD5F4CA086F9}" type="presParOf" srcId="{325D2BBC-9F3E-46BE-A98C-EF29622C8C65}" destId="{9C3F19D5-C877-42BE-8325-8B1F9675FA99}" srcOrd="0" destOrd="0" presId="urn:microsoft.com/office/officeart/2005/8/layout/cycle8"/>
    <dgm:cxn modelId="{F8DA0710-1CD9-478F-915C-ED745FC0B213}" type="presParOf" srcId="{325D2BBC-9F3E-46BE-A98C-EF29622C8C65}" destId="{932D413B-731F-4B06-8CDC-9AAF000B2E16}" srcOrd="1" destOrd="0" presId="urn:microsoft.com/office/officeart/2005/8/layout/cycle8"/>
    <dgm:cxn modelId="{14B50E18-BFB6-485B-A14A-4A7555C81E0B}" type="presParOf" srcId="{325D2BBC-9F3E-46BE-A98C-EF29622C8C65}" destId="{21AEE178-981F-4FCB-891A-097C551E70E6}" srcOrd="2" destOrd="0" presId="urn:microsoft.com/office/officeart/2005/8/layout/cycle8"/>
    <dgm:cxn modelId="{996B4261-AAD6-4152-AD49-819D424EDB1C}" type="presParOf" srcId="{325D2BBC-9F3E-46BE-A98C-EF29622C8C65}" destId="{7E9B4F77-3EA5-4412-9EE1-6A92935E397E}" srcOrd="3" destOrd="0" presId="urn:microsoft.com/office/officeart/2005/8/layout/cycle8"/>
    <dgm:cxn modelId="{5D567861-544A-4665-B3D1-C7E1E9E8ACCC}" type="presParOf" srcId="{325D2BBC-9F3E-46BE-A98C-EF29622C8C65}" destId="{6386B393-05DB-4DA6-9ADB-3CC04B364ADD}" srcOrd="4" destOrd="0" presId="urn:microsoft.com/office/officeart/2005/8/layout/cycle8"/>
    <dgm:cxn modelId="{55F8F156-C443-4070-8D9A-E639C111451A}" type="presParOf" srcId="{325D2BBC-9F3E-46BE-A98C-EF29622C8C65}" destId="{620198FD-F3CE-4683-A175-B3646DDF78A4}" srcOrd="5" destOrd="0" presId="urn:microsoft.com/office/officeart/2005/8/layout/cycle8"/>
    <dgm:cxn modelId="{6B8FC8B8-9E0F-4DF8-97C1-1C227F3F13B9}" type="presParOf" srcId="{325D2BBC-9F3E-46BE-A98C-EF29622C8C65}" destId="{07D294B5-2CCF-4D50-8FF5-FBD9506B0DF7}" srcOrd="6" destOrd="0" presId="urn:microsoft.com/office/officeart/2005/8/layout/cycle8"/>
    <dgm:cxn modelId="{525CDE45-3F29-44C0-BAA0-434EE8A80EC4}" type="presParOf" srcId="{325D2BBC-9F3E-46BE-A98C-EF29622C8C65}" destId="{84A410B4-BA7D-4A5F-B745-6207A3C4503E}" srcOrd="7" destOrd="0" presId="urn:microsoft.com/office/officeart/2005/8/layout/cycle8"/>
    <dgm:cxn modelId="{88C36F98-A487-4B86-9336-643BB700EC1C}" type="presParOf" srcId="{325D2BBC-9F3E-46BE-A98C-EF29622C8C65}" destId="{819D1B8A-62FE-4AB3-A490-FE13295E8786}" srcOrd="8" destOrd="0" presId="urn:microsoft.com/office/officeart/2005/8/layout/cycle8"/>
    <dgm:cxn modelId="{FDE4947D-A7A6-4CC6-968A-1D4DCAD50185}" type="presParOf" srcId="{325D2BBC-9F3E-46BE-A98C-EF29622C8C65}" destId="{420D1A39-CE50-40CF-AB14-C8A70B467C9C}" srcOrd="9" destOrd="0" presId="urn:microsoft.com/office/officeart/2005/8/layout/cycle8"/>
    <dgm:cxn modelId="{D981FAF3-3957-40A8-A307-98FF17E32504}" type="presParOf" srcId="{325D2BBC-9F3E-46BE-A98C-EF29622C8C65}" destId="{F8D27D88-D5F2-41C8-ADC5-600F6FFE75C7}" srcOrd="10" destOrd="0" presId="urn:microsoft.com/office/officeart/2005/8/layout/cycle8"/>
    <dgm:cxn modelId="{41D88FC2-8E55-4170-9F9E-788998BB5A8D}" type="presParOf" srcId="{325D2BBC-9F3E-46BE-A98C-EF29622C8C65}" destId="{192AFC03-9E72-470B-B937-032115971B58}" srcOrd="11" destOrd="0" presId="urn:microsoft.com/office/officeart/2005/8/layout/cycle8"/>
    <dgm:cxn modelId="{FD8C0FAB-0C67-43B3-805E-024B606407A6}" type="presParOf" srcId="{325D2BBC-9F3E-46BE-A98C-EF29622C8C65}" destId="{310A7488-BBF6-4371-A19C-E04943D1212B}" srcOrd="12" destOrd="0" presId="urn:microsoft.com/office/officeart/2005/8/layout/cycle8"/>
    <dgm:cxn modelId="{03505FC9-70FB-48AB-A668-C8528171A473}" type="presParOf" srcId="{325D2BBC-9F3E-46BE-A98C-EF29622C8C65}" destId="{DC4AED9F-4D29-4FAA-9777-415C7486FD73}" srcOrd="13" destOrd="0" presId="urn:microsoft.com/office/officeart/2005/8/layout/cycle8"/>
    <dgm:cxn modelId="{59ADFEFE-2C84-4EA5-A86A-BF4F3A0027CB}" type="presParOf" srcId="{325D2BBC-9F3E-46BE-A98C-EF29622C8C65}" destId="{99EA2C14-C5C5-4493-A65E-F1B81C38759D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4A69ED5-41AD-4CA2-8810-3059C29C1699}" type="doc">
      <dgm:prSet loTypeId="urn:microsoft.com/office/officeart/2005/8/layout/default" loCatId="list" qsTypeId="urn:microsoft.com/office/officeart/2005/8/quickstyle/simple5" qsCatId="simple" csTypeId="urn:microsoft.com/office/officeart/2005/8/colors/accent0_3" csCatId="mainScheme" phldr="1"/>
      <dgm:spPr/>
      <dgm:t>
        <a:bodyPr/>
        <a:lstStyle/>
        <a:p>
          <a:endParaRPr lang="en-GB"/>
        </a:p>
      </dgm:t>
    </dgm:pt>
    <dgm:pt modelId="{E9F87927-12D1-4FDF-B7F6-F8F9B262E348}">
      <dgm:prSet phldrT="[Text]" phldr="0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1200" dirty="0"/>
            <a:t>SALES</a:t>
          </a:r>
        </a:p>
        <a:p>
          <a:r>
            <a:rPr lang="en-GB" sz="1000" i="1" dirty="0"/>
            <a:t>Hyper-personalized recommendations &amp; predictive lead scoring</a:t>
          </a:r>
          <a:r>
            <a:rPr lang="en-GB" sz="1000" dirty="0"/>
            <a:t> </a:t>
          </a:r>
        </a:p>
      </dgm:t>
    </dgm:pt>
    <dgm:pt modelId="{94E98A76-7DC6-4994-8039-85884F494E98}" type="parTrans" cxnId="{29C6D638-B61F-4630-898A-513EA4096C26}">
      <dgm:prSet/>
      <dgm:spPr/>
      <dgm:t>
        <a:bodyPr/>
        <a:lstStyle/>
        <a:p>
          <a:endParaRPr lang="en-GB" sz="1000"/>
        </a:p>
      </dgm:t>
    </dgm:pt>
    <dgm:pt modelId="{B150830B-1CE0-435E-80D0-F0F8187EC7EA}" type="sibTrans" cxnId="{29C6D638-B61F-4630-898A-513EA4096C26}">
      <dgm:prSet/>
      <dgm:spPr/>
      <dgm:t>
        <a:bodyPr/>
        <a:lstStyle/>
        <a:p>
          <a:endParaRPr lang="en-GB" sz="1000"/>
        </a:p>
      </dgm:t>
    </dgm:pt>
    <dgm:pt modelId="{B5E752B3-161A-4D0D-BF95-FE1A799BF028}">
      <dgm:prSet phldrT="[Text]" phldr="0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1200" dirty="0"/>
            <a:t>SUPPLY CHAIN</a:t>
          </a:r>
        </a:p>
        <a:p>
          <a:r>
            <a:rPr lang="en-GB" sz="1000" i="1" dirty="0"/>
            <a:t>Integrate customer insights to ensure production aligns with forecasted demand</a:t>
          </a:r>
        </a:p>
      </dgm:t>
    </dgm:pt>
    <dgm:pt modelId="{F65E3DAE-4F3A-4E55-87D2-747E8CEE7074}" type="parTrans" cxnId="{38CE34A4-FBF8-4135-BEA8-250D0CDA6DC0}">
      <dgm:prSet/>
      <dgm:spPr/>
      <dgm:t>
        <a:bodyPr/>
        <a:lstStyle/>
        <a:p>
          <a:endParaRPr lang="en-GB" sz="1000"/>
        </a:p>
      </dgm:t>
    </dgm:pt>
    <dgm:pt modelId="{BE3000E9-3D53-4B41-978D-23A22A106EFD}" type="sibTrans" cxnId="{38CE34A4-FBF8-4135-BEA8-250D0CDA6DC0}">
      <dgm:prSet/>
      <dgm:spPr/>
      <dgm:t>
        <a:bodyPr/>
        <a:lstStyle/>
        <a:p>
          <a:endParaRPr lang="en-GB" sz="1000"/>
        </a:p>
      </dgm:t>
    </dgm:pt>
    <dgm:pt modelId="{9E3FE958-3877-4E30-958F-F37049F325D5}">
      <dgm:prSet phldrT="[Text]" phldr="0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1200" dirty="0"/>
            <a:t>FINANCE</a:t>
          </a:r>
        </a:p>
        <a:p>
          <a:r>
            <a:rPr lang="en-GB" sz="1000" i="1" dirty="0"/>
            <a:t>Digital advisors analyse investment data, assess risks &amp; offer customized financial guidance</a:t>
          </a:r>
        </a:p>
      </dgm:t>
    </dgm:pt>
    <dgm:pt modelId="{0B72720D-E5D2-4FEA-9F0A-B13E2EDF5DDE}" type="parTrans" cxnId="{040E6989-ABEF-403F-9137-56B0D1C63869}">
      <dgm:prSet/>
      <dgm:spPr/>
      <dgm:t>
        <a:bodyPr/>
        <a:lstStyle/>
        <a:p>
          <a:endParaRPr lang="en-GB" sz="1000"/>
        </a:p>
      </dgm:t>
    </dgm:pt>
    <dgm:pt modelId="{ADDB4646-7CAE-4B21-9EDF-C5CE02B233CD}" type="sibTrans" cxnId="{040E6989-ABEF-403F-9137-56B0D1C63869}">
      <dgm:prSet/>
      <dgm:spPr/>
      <dgm:t>
        <a:bodyPr/>
        <a:lstStyle/>
        <a:p>
          <a:endParaRPr lang="en-GB" sz="1000"/>
        </a:p>
      </dgm:t>
    </dgm:pt>
    <dgm:pt modelId="{C40B84BB-AE16-4F62-A52A-150788074208}">
      <dgm:prSet phldrT="[Text]" phldr="0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1200" dirty="0"/>
            <a:t>GOVERNMENTS</a:t>
          </a:r>
        </a:p>
        <a:p>
          <a:r>
            <a:rPr lang="en-GB" sz="1000" i="1" dirty="0"/>
            <a:t>Logistics, defence, public planning</a:t>
          </a:r>
        </a:p>
      </dgm:t>
    </dgm:pt>
    <dgm:pt modelId="{89EB3F0D-E768-4AB8-A114-8D9269B822E7}" type="parTrans" cxnId="{4D54053D-0EFE-42A7-8D94-61D3401A32E5}">
      <dgm:prSet/>
      <dgm:spPr/>
      <dgm:t>
        <a:bodyPr/>
        <a:lstStyle/>
        <a:p>
          <a:endParaRPr lang="en-GB" sz="1000"/>
        </a:p>
      </dgm:t>
    </dgm:pt>
    <dgm:pt modelId="{FBA6D1F8-26C3-442F-BA36-0F61F2BCFAF5}" type="sibTrans" cxnId="{4D54053D-0EFE-42A7-8D94-61D3401A32E5}">
      <dgm:prSet/>
      <dgm:spPr/>
      <dgm:t>
        <a:bodyPr/>
        <a:lstStyle/>
        <a:p>
          <a:endParaRPr lang="en-GB" sz="1000"/>
        </a:p>
      </dgm:t>
    </dgm:pt>
    <dgm:pt modelId="{9ACF749E-1DB9-4F03-BF67-B558B4F3CAF4}">
      <dgm:prSet phldrT="[Text]" phldr="0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1200" dirty="0"/>
            <a:t>TELEHEALTH</a:t>
          </a:r>
        </a:p>
        <a:p>
          <a:r>
            <a:rPr lang="en-GB" sz="1000" i="1" dirty="0"/>
            <a:t>Track patient history, symptoms &amp; real-time vital signs</a:t>
          </a:r>
        </a:p>
      </dgm:t>
    </dgm:pt>
    <dgm:pt modelId="{6715ABC8-C122-425A-B0C7-A4E0148F9614}" type="parTrans" cxnId="{9E2E239C-AEEF-4630-A9C6-691C1B2298A4}">
      <dgm:prSet/>
      <dgm:spPr/>
      <dgm:t>
        <a:bodyPr/>
        <a:lstStyle/>
        <a:p>
          <a:endParaRPr lang="en-GB" sz="1000"/>
        </a:p>
      </dgm:t>
    </dgm:pt>
    <dgm:pt modelId="{BDAD7B7D-C9F8-43CB-BDC6-F5B4B207A5A5}" type="sibTrans" cxnId="{9E2E239C-AEEF-4630-A9C6-691C1B2298A4}">
      <dgm:prSet/>
      <dgm:spPr/>
      <dgm:t>
        <a:bodyPr/>
        <a:lstStyle/>
        <a:p>
          <a:endParaRPr lang="en-GB" sz="1000"/>
        </a:p>
      </dgm:t>
    </dgm:pt>
    <dgm:pt modelId="{89B5F20B-693F-4B4C-A083-BBF992AAC9A0}">
      <dgm:prSet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1200" dirty="0"/>
            <a:t>ACADEMIA</a:t>
          </a:r>
        </a:p>
        <a:p>
          <a:r>
            <a:rPr lang="en-GB" sz="1000" i="1" dirty="0"/>
            <a:t>Virtual mentors to guide students through coursework and research</a:t>
          </a:r>
        </a:p>
      </dgm:t>
    </dgm:pt>
    <dgm:pt modelId="{AA19300B-AB6D-4B9A-90C3-E2DEC855E7E4}" type="parTrans" cxnId="{D2AF8BA5-03E9-4A23-B056-493B7E10E747}">
      <dgm:prSet/>
      <dgm:spPr/>
      <dgm:t>
        <a:bodyPr/>
        <a:lstStyle/>
        <a:p>
          <a:endParaRPr lang="en-GB" sz="1000"/>
        </a:p>
      </dgm:t>
    </dgm:pt>
    <dgm:pt modelId="{64C3768D-25B3-473C-9C75-FD3707918751}" type="sibTrans" cxnId="{D2AF8BA5-03E9-4A23-B056-493B7E10E747}">
      <dgm:prSet/>
      <dgm:spPr/>
      <dgm:t>
        <a:bodyPr/>
        <a:lstStyle/>
        <a:p>
          <a:endParaRPr lang="en-GB" sz="1000"/>
        </a:p>
      </dgm:t>
    </dgm:pt>
    <dgm:pt modelId="{EC7FACEA-C263-44BB-9A40-116569C302B1}" type="pres">
      <dgm:prSet presAssocID="{B4A69ED5-41AD-4CA2-8810-3059C29C1699}" presName="diagram" presStyleCnt="0">
        <dgm:presLayoutVars>
          <dgm:dir/>
          <dgm:resizeHandles val="exact"/>
        </dgm:presLayoutVars>
      </dgm:prSet>
      <dgm:spPr/>
    </dgm:pt>
    <dgm:pt modelId="{5E203E09-B179-4D55-9D92-7FB41A11BEAD}" type="pres">
      <dgm:prSet presAssocID="{E9F87927-12D1-4FDF-B7F6-F8F9B262E348}" presName="node" presStyleLbl="node1" presStyleIdx="0" presStyleCnt="6">
        <dgm:presLayoutVars>
          <dgm:bulletEnabled val="1"/>
        </dgm:presLayoutVars>
      </dgm:prSet>
      <dgm:spPr/>
    </dgm:pt>
    <dgm:pt modelId="{76755918-4A61-4AF2-BB62-A759CC9ED58C}" type="pres">
      <dgm:prSet presAssocID="{B150830B-1CE0-435E-80D0-F0F8187EC7EA}" presName="sibTrans" presStyleCnt="0"/>
      <dgm:spPr/>
    </dgm:pt>
    <dgm:pt modelId="{F186FBBD-CF3E-4DFF-BE0C-4A6B87C4E24D}" type="pres">
      <dgm:prSet presAssocID="{B5E752B3-161A-4D0D-BF95-FE1A799BF028}" presName="node" presStyleLbl="node1" presStyleIdx="1" presStyleCnt="6">
        <dgm:presLayoutVars>
          <dgm:bulletEnabled val="1"/>
        </dgm:presLayoutVars>
      </dgm:prSet>
      <dgm:spPr/>
    </dgm:pt>
    <dgm:pt modelId="{45A63261-DF43-4E03-89F8-F720A658286C}" type="pres">
      <dgm:prSet presAssocID="{BE3000E9-3D53-4B41-978D-23A22A106EFD}" presName="sibTrans" presStyleCnt="0"/>
      <dgm:spPr/>
    </dgm:pt>
    <dgm:pt modelId="{EE7DACD1-7415-4254-9259-C2C67F7D9A96}" type="pres">
      <dgm:prSet presAssocID="{9E3FE958-3877-4E30-958F-F37049F325D5}" presName="node" presStyleLbl="node1" presStyleIdx="2" presStyleCnt="6">
        <dgm:presLayoutVars>
          <dgm:bulletEnabled val="1"/>
        </dgm:presLayoutVars>
      </dgm:prSet>
      <dgm:spPr/>
    </dgm:pt>
    <dgm:pt modelId="{0C633758-72CD-4631-9D14-26B278E402E6}" type="pres">
      <dgm:prSet presAssocID="{ADDB4646-7CAE-4B21-9EDF-C5CE02B233CD}" presName="sibTrans" presStyleCnt="0"/>
      <dgm:spPr/>
    </dgm:pt>
    <dgm:pt modelId="{CEB01548-B4E2-4957-A649-8A772A2678D1}" type="pres">
      <dgm:prSet presAssocID="{C40B84BB-AE16-4F62-A52A-150788074208}" presName="node" presStyleLbl="node1" presStyleIdx="3" presStyleCnt="6">
        <dgm:presLayoutVars>
          <dgm:bulletEnabled val="1"/>
        </dgm:presLayoutVars>
      </dgm:prSet>
      <dgm:spPr/>
    </dgm:pt>
    <dgm:pt modelId="{257FE0F2-67BE-4CB4-B1AC-3E59870353E6}" type="pres">
      <dgm:prSet presAssocID="{FBA6D1F8-26C3-442F-BA36-0F61F2BCFAF5}" presName="sibTrans" presStyleCnt="0"/>
      <dgm:spPr/>
    </dgm:pt>
    <dgm:pt modelId="{B835DF6C-7655-4E4F-8A6B-BFA2EF91A79B}" type="pres">
      <dgm:prSet presAssocID="{9ACF749E-1DB9-4F03-BF67-B558B4F3CAF4}" presName="node" presStyleLbl="node1" presStyleIdx="4" presStyleCnt="6">
        <dgm:presLayoutVars>
          <dgm:bulletEnabled val="1"/>
        </dgm:presLayoutVars>
      </dgm:prSet>
      <dgm:spPr/>
    </dgm:pt>
    <dgm:pt modelId="{BD6D28EB-A238-4A96-A638-E78207B38DFA}" type="pres">
      <dgm:prSet presAssocID="{BDAD7B7D-C9F8-43CB-BDC6-F5B4B207A5A5}" presName="sibTrans" presStyleCnt="0"/>
      <dgm:spPr/>
    </dgm:pt>
    <dgm:pt modelId="{F7EAF17F-AFF0-48C3-B0BD-59EDA0A3A3A8}" type="pres">
      <dgm:prSet presAssocID="{89B5F20B-693F-4B4C-A083-BBF992AAC9A0}" presName="node" presStyleLbl="node1" presStyleIdx="5" presStyleCnt="6">
        <dgm:presLayoutVars>
          <dgm:bulletEnabled val="1"/>
        </dgm:presLayoutVars>
      </dgm:prSet>
      <dgm:spPr/>
    </dgm:pt>
  </dgm:ptLst>
  <dgm:cxnLst>
    <dgm:cxn modelId="{A801A52D-473D-43EC-A934-4E49E003D7DE}" type="presOf" srcId="{89B5F20B-693F-4B4C-A083-BBF992AAC9A0}" destId="{F7EAF17F-AFF0-48C3-B0BD-59EDA0A3A3A8}" srcOrd="0" destOrd="0" presId="urn:microsoft.com/office/officeart/2005/8/layout/default"/>
    <dgm:cxn modelId="{29C6D638-B61F-4630-898A-513EA4096C26}" srcId="{B4A69ED5-41AD-4CA2-8810-3059C29C1699}" destId="{E9F87927-12D1-4FDF-B7F6-F8F9B262E348}" srcOrd="0" destOrd="0" parTransId="{94E98A76-7DC6-4994-8039-85884F494E98}" sibTransId="{B150830B-1CE0-435E-80D0-F0F8187EC7EA}"/>
    <dgm:cxn modelId="{4D54053D-0EFE-42A7-8D94-61D3401A32E5}" srcId="{B4A69ED5-41AD-4CA2-8810-3059C29C1699}" destId="{C40B84BB-AE16-4F62-A52A-150788074208}" srcOrd="3" destOrd="0" parTransId="{89EB3F0D-E768-4AB8-A114-8D9269B822E7}" sibTransId="{FBA6D1F8-26C3-442F-BA36-0F61F2BCFAF5}"/>
    <dgm:cxn modelId="{F99E775F-2E23-4125-9370-D8D7984A4E9E}" type="presOf" srcId="{9E3FE958-3877-4E30-958F-F37049F325D5}" destId="{EE7DACD1-7415-4254-9259-C2C67F7D9A96}" srcOrd="0" destOrd="0" presId="urn:microsoft.com/office/officeart/2005/8/layout/default"/>
    <dgm:cxn modelId="{8154006E-A1F8-48E9-909F-270F063C57C2}" type="presOf" srcId="{E9F87927-12D1-4FDF-B7F6-F8F9B262E348}" destId="{5E203E09-B179-4D55-9D92-7FB41A11BEAD}" srcOrd="0" destOrd="0" presId="urn:microsoft.com/office/officeart/2005/8/layout/default"/>
    <dgm:cxn modelId="{040E6989-ABEF-403F-9137-56B0D1C63869}" srcId="{B4A69ED5-41AD-4CA2-8810-3059C29C1699}" destId="{9E3FE958-3877-4E30-958F-F37049F325D5}" srcOrd="2" destOrd="0" parTransId="{0B72720D-E5D2-4FEA-9F0A-B13E2EDF5DDE}" sibTransId="{ADDB4646-7CAE-4B21-9EDF-C5CE02B233CD}"/>
    <dgm:cxn modelId="{9E2E239C-AEEF-4630-A9C6-691C1B2298A4}" srcId="{B4A69ED5-41AD-4CA2-8810-3059C29C1699}" destId="{9ACF749E-1DB9-4F03-BF67-B558B4F3CAF4}" srcOrd="4" destOrd="0" parTransId="{6715ABC8-C122-425A-B0C7-A4E0148F9614}" sibTransId="{BDAD7B7D-C9F8-43CB-BDC6-F5B4B207A5A5}"/>
    <dgm:cxn modelId="{38CE34A4-FBF8-4135-BEA8-250D0CDA6DC0}" srcId="{B4A69ED5-41AD-4CA2-8810-3059C29C1699}" destId="{B5E752B3-161A-4D0D-BF95-FE1A799BF028}" srcOrd="1" destOrd="0" parTransId="{F65E3DAE-4F3A-4E55-87D2-747E8CEE7074}" sibTransId="{BE3000E9-3D53-4B41-978D-23A22A106EFD}"/>
    <dgm:cxn modelId="{D2AF8BA5-03E9-4A23-B056-493B7E10E747}" srcId="{B4A69ED5-41AD-4CA2-8810-3059C29C1699}" destId="{89B5F20B-693F-4B4C-A083-BBF992AAC9A0}" srcOrd="5" destOrd="0" parTransId="{AA19300B-AB6D-4B9A-90C3-E2DEC855E7E4}" sibTransId="{64C3768D-25B3-473C-9C75-FD3707918751}"/>
    <dgm:cxn modelId="{665083C9-02F7-49AB-B0F5-CCF8065AB389}" type="presOf" srcId="{C40B84BB-AE16-4F62-A52A-150788074208}" destId="{CEB01548-B4E2-4957-A649-8A772A2678D1}" srcOrd="0" destOrd="0" presId="urn:microsoft.com/office/officeart/2005/8/layout/default"/>
    <dgm:cxn modelId="{4E90A8ED-CBBF-4630-8ADF-5CD0A9B0974C}" type="presOf" srcId="{B4A69ED5-41AD-4CA2-8810-3059C29C1699}" destId="{EC7FACEA-C263-44BB-9A40-116569C302B1}" srcOrd="0" destOrd="0" presId="urn:microsoft.com/office/officeart/2005/8/layout/default"/>
    <dgm:cxn modelId="{7E15C7ED-A3E7-423C-8154-ED123C1CFC63}" type="presOf" srcId="{B5E752B3-161A-4D0D-BF95-FE1A799BF028}" destId="{F186FBBD-CF3E-4DFF-BE0C-4A6B87C4E24D}" srcOrd="0" destOrd="0" presId="urn:microsoft.com/office/officeart/2005/8/layout/default"/>
    <dgm:cxn modelId="{A5D620F9-5271-48DA-B08C-8486B57D43B4}" type="presOf" srcId="{9ACF749E-1DB9-4F03-BF67-B558B4F3CAF4}" destId="{B835DF6C-7655-4E4F-8A6B-BFA2EF91A79B}" srcOrd="0" destOrd="0" presId="urn:microsoft.com/office/officeart/2005/8/layout/default"/>
    <dgm:cxn modelId="{BFA645BC-6712-4EB0-B5E0-DF39BE01E6F5}" type="presParOf" srcId="{EC7FACEA-C263-44BB-9A40-116569C302B1}" destId="{5E203E09-B179-4D55-9D92-7FB41A11BEAD}" srcOrd="0" destOrd="0" presId="urn:microsoft.com/office/officeart/2005/8/layout/default"/>
    <dgm:cxn modelId="{ABB96D2D-6D2A-4F89-AEE7-55C1AADFC1AC}" type="presParOf" srcId="{EC7FACEA-C263-44BB-9A40-116569C302B1}" destId="{76755918-4A61-4AF2-BB62-A759CC9ED58C}" srcOrd="1" destOrd="0" presId="urn:microsoft.com/office/officeart/2005/8/layout/default"/>
    <dgm:cxn modelId="{D26A449F-2F8D-4078-8359-1C466E53F87F}" type="presParOf" srcId="{EC7FACEA-C263-44BB-9A40-116569C302B1}" destId="{F186FBBD-CF3E-4DFF-BE0C-4A6B87C4E24D}" srcOrd="2" destOrd="0" presId="urn:microsoft.com/office/officeart/2005/8/layout/default"/>
    <dgm:cxn modelId="{15BA50E7-A723-4D1F-8871-1098A6CCB3CF}" type="presParOf" srcId="{EC7FACEA-C263-44BB-9A40-116569C302B1}" destId="{45A63261-DF43-4E03-89F8-F720A658286C}" srcOrd="3" destOrd="0" presId="urn:microsoft.com/office/officeart/2005/8/layout/default"/>
    <dgm:cxn modelId="{357C2FF5-7AB8-4573-86CD-E40C70EDAC5E}" type="presParOf" srcId="{EC7FACEA-C263-44BB-9A40-116569C302B1}" destId="{EE7DACD1-7415-4254-9259-C2C67F7D9A96}" srcOrd="4" destOrd="0" presId="urn:microsoft.com/office/officeart/2005/8/layout/default"/>
    <dgm:cxn modelId="{D5B29589-1C6A-4741-8D55-6B4A6129D965}" type="presParOf" srcId="{EC7FACEA-C263-44BB-9A40-116569C302B1}" destId="{0C633758-72CD-4631-9D14-26B278E402E6}" srcOrd="5" destOrd="0" presId="urn:microsoft.com/office/officeart/2005/8/layout/default"/>
    <dgm:cxn modelId="{31F8DC17-CC16-4FE8-A7F5-0568421C11A9}" type="presParOf" srcId="{EC7FACEA-C263-44BB-9A40-116569C302B1}" destId="{CEB01548-B4E2-4957-A649-8A772A2678D1}" srcOrd="6" destOrd="0" presId="urn:microsoft.com/office/officeart/2005/8/layout/default"/>
    <dgm:cxn modelId="{9C002378-2BB4-4964-8E72-03703CED820E}" type="presParOf" srcId="{EC7FACEA-C263-44BB-9A40-116569C302B1}" destId="{257FE0F2-67BE-4CB4-B1AC-3E59870353E6}" srcOrd="7" destOrd="0" presId="urn:microsoft.com/office/officeart/2005/8/layout/default"/>
    <dgm:cxn modelId="{49A73136-E062-4C3F-BE86-89E4662F069F}" type="presParOf" srcId="{EC7FACEA-C263-44BB-9A40-116569C302B1}" destId="{B835DF6C-7655-4E4F-8A6B-BFA2EF91A79B}" srcOrd="8" destOrd="0" presId="urn:microsoft.com/office/officeart/2005/8/layout/default"/>
    <dgm:cxn modelId="{92624A29-8770-4058-A819-710218B613F7}" type="presParOf" srcId="{EC7FACEA-C263-44BB-9A40-116569C302B1}" destId="{BD6D28EB-A238-4A96-A638-E78207B38DFA}" srcOrd="9" destOrd="0" presId="urn:microsoft.com/office/officeart/2005/8/layout/default"/>
    <dgm:cxn modelId="{D42F2F6B-E23B-4479-8BC7-0A93BFA68469}" type="presParOf" srcId="{EC7FACEA-C263-44BB-9A40-116569C302B1}" destId="{F7EAF17F-AFF0-48C3-B0BD-59EDA0A3A3A8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3F19D5-C877-42BE-8325-8B1F9675FA99}">
      <dsp:nvSpPr>
        <dsp:cNvPr id="0" name=""/>
        <dsp:cNvSpPr/>
      </dsp:nvSpPr>
      <dsp:spPr>
        <a:xfrm>
          <a:off x="532146" y="137850"/>
          <a:ext cx="1781450" cy="1781450"/>
        </a:xfrm>
        <a:prstGeom prst="pie">
          <a:avLst>
            <a:gd name="adj1" fmla="val 16200000"/>
            <a:gd name="adj2" fmla="val 18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kern="1200" dirty="0"/>
            <a:t>BELIEF: </a:t>
          </a:r>
          <a:r>
            <a:rPr lang="en-GB" sz="900" i="1" kern="1200" dirty="0"/>
            <a:t>what they know</a:t>
          </a:r>
        </a:p>
      </dsp:txBody>
      <dsp:txXfrm>
        <a:off x="1471012" y="515348"/>
        <a:ext cx="636232" cy="530193"/>
      </dsp:txXfrm>
    </dsp:sp>
    <dsp:sp modelId="{6386B393-05DB-4DA6-9ADB-3CC04B364ADD}">
      <dsp:nvSpPr>
        <dsp:cNvPr id="0" name=""/>
        <dsp:cNvSpPr/>
      </dsp:nvSpPr>
      <dsp:spPr>
        <a:xfrm>
          <a:off x="495456" y="201473"/>
          <a:ext cx="1781450" cy="1781450"/>
        </a:xfrm>
        <a:prstGeom prst="pie">
          <a:avLst>
            <a:gd name="adj1" fmla="val 1800000"/>
            <a:gd name="adj2" fmla="val 90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kern="1200" dirty="0"/>
            <a:t>DESIRE: </a:t>
          </a:r>
        </a:p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900" i="1" kern="1200" dirty="0"/>
            <a:t>defines their objectives</a:t>
          </a:r>
        </a:p>
      </dsp:txBody>
      <dsp:txXfrm>
        <a:off x="919611" y="1357295"/>
        <a:ext cx="954348" cy="466570"/>
      </dsp:txXfrm>
    </dsp:sp>
    <dsp:sp modelId="{819D1B8A-62FE-4AB3-A490-FE13295E8786}">
      <dsp:nvSpPr>
        <dsp:cNvPr id="0" name=""/>
        <dsp:cNvSpPr/>
      </dsp:nvSpPr>
      <dsp:spPr>
        <a:xfrm>
          <a:off x="458767" y="137850"/>
          <a:ext cx="1781450" cy="1781450"/>
        </a:xfrm>
        <a:prstGeom prst="pie">
          <a:avLst>
            <a:gd name="adj1" fmla="val 90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kern="1200" dirty="0"/>
            <a:t> INTENTION 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900" i="1" kern="1200" dirty="0"/>
            <a:t>actions taken to achieve the goal</a:t>
          </a:r>
        </a:p>
      </dsp:txBody>
      <dsp:txXfrm>
        <a:off x="665118" y="515348"/>
        <a:ext cx="636232" cy="530193"/>
      </dsp:txXfrm>
    </dsp:sp>
    <dsp:sp modelId="{310A7488-BBF6-4371-A19C-E04943D1212B}">
      <dsp:nvSpPr>
        <dsp:cNvPr id="0" name=""/>
        <dsp:cNvSpPr/>
      </dsp:nvSpPr>
      <dsp:spPr>
        <a:xfrm>
          <a:off x="422013" y="27570"/>
          <a:ext cx="2002010" cy="2002010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4AED9F-4D29-4FAA-9777-415C7486FD73}">
      <dsp:nvSpPr>
        <dsp:cNvPr id="0" name=""/>
        <dsp:cNvSpPr/>
      </dsp:nvSpPr>
      <dsp:spPr>
        <a:xfrm>
          <a:off x="385176" y="91080"/>
          <a:ext cx="2002010" cy="2002010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EA2C14-C5C5-4493-A65E-F1B81C38759D}">
      <dsp:nvSpPr>
        <dsp:cNvPr id="0" name=""/>
        <dsp:cNvSpPr/>
      </dsp:nvSpPr>
      <dsp:spPr>
        <a:xfrm>
          <a:off x="348340" y="27570"/>
          <a:ext cx="2002010" cy="2002010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203E09-B179-4D55-9D92-7FB41A11BEAD}">
      <dsp:nvSpPr>
        <dsp:cNvPr id="0" name=""/>
        <dsp:cNvSpPr/>
      </dsp:nvSpPr>
      <dsp:spPr>
        <a:xfrm>
          <a:off x="0" y="491297"/>
          <a:ext cx="1489990" cy="893994"/>
        </a:xfrm>
        <a:prstGeom prst="rect">
          <a:avLst/>
        </a:prstGeom>
        <a:solidFill>
          <a:schemeClr val="accent1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SALES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i="1" kern="1200" dirty="0"/>
            <a:t>Hyper-personalized recommendations &amp; predictive lead scoring</a:t>
          </a:r>
          <a:r>
            <a:rPr lang="en-GB" sz="1000" kern="1200" dirty="0"/>
            <a:t> </a:t>
          </a:r>
        </a:p>
      </dsp:txBody>
      <dsp:txXfrm>
        <a:off x="0" y="491297"/>
        <a:ext cx="1489990" cy="893994"/>
      </dsp:txXfrm>
    </dsp:sp>
    <dsp:sp modelId="{F186FBBD-CF3E-4DFF-BE0C-4A6B87C4E24D}">
      <dsp:nvSpPr>
        <dsp:cNvPr id="0" name=""/>
        <dsp:cNvSpPr/>
      </dsp:nvSpPr>
      <dsp:spPr>
        <a:xfrm>
          <a:off x="1638989" y="491297"/>
          <a:ext cx="1489990" cy="893994"/>
        </a:xfrm>
        <a:prstGeom prst="rect">
          <a:avLst/>
        </a:prstGeom>
        <a:solidFill>
          <a:schemeClr val="accent1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SUPPLY CHAIN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i="1" kern="1200" dirty="0"/>
            <a:t>Integrate customer insights to ensure production aligns with forecasted demand</a:t>
          </a:r>
        </a:p>
      </dsp:txBody>
      <dsp:txXfrm>
        <a:off x="1638989" y="491297"/>
        <a:ext cx="1489990" cy="893994"/>
      </dsp:txXfrm>
    </dsp:sp>
    <dsp:sp modelId="{EE7DACD1-7415-4254-9259-C2C67F7D9A96}">
      <dsp:nvSpPr>
        <dsp:cNvPr id="0" name=""/>
        <dsp:cNvSpPr/>
      </dsp:nvSpPr>
      <dsp:spPr>
        <a:xfrm>
          <a:off x="3277978" y="491297"/>
          <a:ext cx="1489990" cy="893994"/>
        </a:xfrm>
        <a:prstGeom prst="rect">
          <a:avLst/>
        </a:prstGeom>
        <a:solidFill>
          <a:schemeClr val="accent1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FINANCE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i="1" kern="1200" dirty="0"/>
            <a:t>Digital advisors analyse investment data, assess risks &amp; offer customized financial guidance</a:t>
          </a:r>
        </a:p>
      </dsp:txBody>
      <dsp:txXfrm>
        <a:off x="3277978" y="491297"/>
        <a:ext cx="1489990" cy="893994"/>
      </dsp:txXfrm>
    </dsp:sp>
    <dsp:sp modelId="{CEB01548-B4E2-4957-A649-8A772A2678D1}">
      <dsp:nvSpPr>
        <dsp:cNvPr id="0" name=""/>
        <dsp:cNvSpPr/>
      </dsp:nvSpPr>
      <dsp:spPr>
        <a:xfrm>
          <a:off x="0" y="1534291"/>
          <a:ext cx="1489990" cy="893994"/>
        </a:xfrm>
        <a:prstGeom prst="rect">
          <a:avLst/>
        </a:prstGeom>
        <a:solidFill>
          <a:schemeClr val="accent1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GOVERNMENTS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i="1" kern="1200" dirty="0"/>
            <a:t>Logistics, defence, public planning</a:t>
          </a:r>
        </a:p>
      </dsp:txBody>
      <dsp:txXfrm>
        <a:off x="0" y="1534291"/>
        <a:ext cx="1489990" cy="893994"/>
      </dsp:txXfrm>
    </dsp:sp>
    <dsp:sp modelId="{B835DF6C-7655-4E4F-8A6B-BFA2EF91A79B}">
      <dsp:nvSpPr>
        <dsp:cNvPr id="0" name=""/>
        <dsp:cNvSpPr/>
      </dsp:nvSpPr>
      <dsp:spPr>
        <a:xfrm>
          <a:off x="1638989" y="1534291"/>
          <a:ext cx="1489990" cy="893994"/>
        </a:xfrm>
        <a:prstGeom prst="rect">
          <a:avLst/>
        </a:prstGeom>
        <a:solidFill>
          <a:schemeClr val="accent1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TELEHEALTH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i="1" kern="1200" dirty="0"/>
            <a:t>Track patient history, symptoms &amp; real-time vital signs</a:t>
          </a:r>
        </a:p>
      </dsp:txBody>
      <dsp:txXfrm>
        <a:off x="1638989" y="1534291"/>
        <a:ext cx="1489990" cy="893994"/>
      </dsp:txXfrm>
    </dsp:sp>
    <dsp:sp modelId="{F7EAF17F-AFF0-48C3-B0BD-59EDA0A3A3A8}">
      <dsp:nvSpPr>
        <dsp:cNvPr id="0" name=""/>
        <dsp:cNvSpPr/>
      </dsp:nvSpPr>
      <dsp:spPr>
        <a:xfrm>
          <a:off x="3277978" y="1534291"/>
          <a:ext cx="1489990" cy="893994"/>
        </a:xfrm>
        <a:prstGeom prst="rect">
          <a:avLst/>
        </a:prstGeom>
        <a:solidFill>
          <a:schemeClr val="accent1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ACADEMIA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i="1" kern="1200" dirty="0"/>
            <a:t>Virtual mentors to guide students through coursework and research</a:t>
          </a:r>
        </a:p>
      </dsp:txBody>
      <dsp:txXfrm>
        <a:off x="3277978" y="1534291"/>
        <a:ext cx="1489990" cy="8939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F12E8-1B91-D491-521C-006C1A1723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616A8B-3EF5-D882-47E5-BF62EB5224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8212ED-73E1-1AAE-6680-A7A885222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BB34A-48DD-112F-72FB-9803ED4EA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83785-4815-9E6C-BD2F-5BAC5B216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5006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47367-653E-F068-E56E-793980291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4E4F5-4FDB-130F-6454-A5B99ED54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35FC6-929A-4C1A-542D-A6CC7E4A3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4C7B2-A1F3-9FA8-D4F1-DE825B6C9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5A370-695C-2C3C-5CA5-16B101F0C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510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71887-E104-2636-76BD-0680C43C7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B4C36-FF35-61AD-ACDF-B8064233F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F515E9-CB5B-B71F-62F0-ECC1B8764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0924E-5898-15D8-F5DF-C1424BC05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CDC6C-D826-5453-5A68-70CE2D347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6815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80760-808C-222D-950E-ECC8F6DAA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E3F4F-FEDA-3BB8-8409-07BB2E3F84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708C9-42E7-5F6F-B568-D31E91480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27DF23-A86D-B1D9-2639-F3BADCB48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7BC45F-E447-621A-621C-A5254C4FE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CDF6A4-F8B7-5E1C-A5C1-A276BDFE2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5252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01742-D02E-251F-5C31-0C717C8B2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EC039D-FC12-3A45-FA07-C57DB8C8F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A59139-87B1-F8FF-4E13-C9AD33AC56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5F8D14-E32D-FE14-F8A9-D91A948E06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B9AA70-5568-2A4E-F01D-FE6AC6E5D0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DB4710-B71C-5492-5021-25D98E7D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6F4052-C3B8-16A6-130B-F076DAA49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0F2184-72EF-ED20-0A06-75BB7BB7E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9191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B137D-E6F0-88F0-BCF6-74A71E53B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9BF786-F399-CD24-A3EC-B2B1E4B5D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53AF08-CB56-A41B-501D-DC2C27335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5F5966-DAFB-2649-D3F2-B909153C7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3356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7D2186-8CE2-7BDA-886B-E7B7B4FE2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4D61B8-B91A-6D8B-A2AB-1747A0CDF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15BAA-B2B9-ECBA-AB50-BCB7D92DC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8812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998E0-543D-7802-3F1D-8B11FE064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4EDDE-EA78-2646-34BF-1CC45E1DB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676B9-DAC0-4686-3B43-0137E50CB4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BEB1A-F52D-2C72-DB1F-86F39B80F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DCBEC9-99DC-B36B-2A30-BD53E918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D942F-ABD6-61C2-45DB-E89E8B18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17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7BB6-E536-8F67-D70C-832C04E8D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346AA2-EA45-5C04-39DD-D96E048117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E7AF8A-8479-5866-2546-34093DB198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EEBC7-64E2-FC5A-BAC3-F72E28F6A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4E87EB-CA8F-04BC-9DA2-EC5DE4B47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E23F4E-2ABB-34EE-052D-80E3AD527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963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F5DCE-EC08-3DCD-DB04-880D64519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EBF1ED-7D79-3A6D-8E96-3417BD874C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85035-D4F0-F3B6-B777-E2D9529F3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4A069F-5D37-FD32-7C7E-3F156B674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4B489-38F1-E76B-38D9-190E087FE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062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B388B6-1FF4-0D30-2739-37145F8328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E2AB13-92E2-0DF8-7C40-BF23E93A4F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AE6BB-4452-FDFC-03B2-0AC61D707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883D0-9582-6767-82D6-DD3B0A5F1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08678F-28FF-F4CD-05AE-D3DB3AD5E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5950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35B28F-2E48-8610-434D-97387887E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DD3730-E74B-B712-DA5E-DEB396982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047B5-5280-282A-78AA-B8D2581899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D21F5-D0C0-456E-AEAC-32A62EF14BE2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0C564-BCC7-6E41-EE7B-9815228A7E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3706B-2F16-EC56-336A-93C003C5B6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01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.xml"/><Relationship Id="rId13" Type="http://schemas.openxmlformats.org/officeDocument/2006/relationships/diagramData" Target="../diagrams/data2.xml"/><Relationship Id="rId18" Type="http://schemas.openxmlformats.org/officeDocument/2006/relationships/image" Target="../media/image7.png"/><Relationship Id="rId3" Type="http://schemas.openxmlformats.org/officeDocument/2006/relationships/image" Target="../media/image2.svg"/><Relationship Id="rId21" Type="http://schemas.openxmlformats.org/officeDocument/2006/relationships/image" Target="../media/image10.svg"/><Relationship Id="rId7" Type="http://schemas.openxmlformats.org/officeDocument/2006/relationships/image" Target="../media/image6.svg"/><Relationship Id="rId12" Type="http://schemas.microsoft.com/office/2007/relationships/diagramDrawing" Target="../diagrams/drawing1.xml"/><Relationship Id="rId17" Type="http://schemas.microsoft.com/office/2007/relationships/diagramDrawing" Target="../diagrams/drawing2.xml"/><Relationship Id="rId2" Type="http://schemas.openxmlformats.org/officeDocument/2006/relationships/image" Target="../media/image1.png"/><Relationship Id="rId16" Type="http://schemas.openxmlformats.org/officeDocument/2006/relationships/diagramColors" Target="../diagrams/colors2.xml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diagramColors" Target="../diagrams/colors1.xml"/><Relationship Id="rId5" Type="http://schemas.openxmlformats.org/officeDocument/2006/relationships/image" Target="../media/image4.svg"/><Relationship Id="rId15" Type="http://schemas.openxmlformats.org/officeDocument/2006/relationships/diagramQuickStyle" Target="../diagrams/quickStyle2.xml"/><Relationship Id="rId23" Type="http://schemas.openxmlformats.org/officeDocument/2006/relationships/image" Target="../media/image12.svg"/><Relationship Id="rId10" Type="http://schemas.openxmlformats.org/officeDocument/2006/relationships/diagramQuickStyle" Target="../diagrams/quickStyle1.xml"/><Relationship Id="rId19" Type="http://schemas.openxmlformats.org/officeDocument/2006/relationships/image" Target="../media/image8.svg"/><Relationship Id="rId4" Type="http://schemas.openxmlformats.org/officeDocument/2006/relationships/image" Target="../media/image3.png"/><Relationship Id="rId9" Type="http://schemas.openxmlformats.org/officeDocument/2006/relationships/diagramLayout" Target="../diagrams/layout1.xml"/><Relationship Id="rId14" Type="http://schemas.openxmlformats.org/officeDocument/2006/relationships/diagramLayout" Target="../diagrams/layout2.xml"/><Relationship Id="rId2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C32DB-94D1-1080-D3AC-297AA5E735BA}"/>
              </a:ext>
            </a:extLst>
          </p:cNvPr>
          <p:cNvSpPr txBox="1"/>
          <p:nvPr/>
        </p:nvSpPr>
        <p:spPr>
          <a:xfrm>
            <a:off x="0" y="0"/>
            <a:ext cx="4572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latin typeface="Abadi" panose="020B0604020104020204" pitchFamily="34" charset="0"/>
              </a:rPr>
              <a:t>BIG DATA IN REAL-TIME OPTIMIZATION</a:t>
            </a:r>
          </a:p>
          <a:p>
            <a:r>
              <a:rPr lang="en-GB" sz="1400" i="1" dirty="0">
                <a:latin typeface="Abadi" panose="020B0604020104020204" pitchFamily="34" charset="0"/>
              </a:rPr>
              <a:t>Moving from </a:t>
            </a:r>
            <a:r>
              <a:rPr lang="en-GB" sz="1400" b="1" i="1" dirty="0">
                <a:latin typeface="Abadi" panose="020B0604020104020204" pitchFamily="34" charset="0"/>
              </a:rPr>
              <a:t>Reactive</a:t>
            </a:r>
            <a:r>
              <a:rPr lang="en-GB" sz="1400" i="1" dirty="0">
                <a:latin typeface="Abadi" panose="020B0604020104020204" pitchFamily="34" charset="0"/>
              </a:rPr>
              <a:t> to </a:t>
            </a:r>
            <a:r>
              <a:rPr lang="en-GB" sz="1400" b="1" i="1" dirty="0">
                <a:latin typeface="Abadi" panose="020B0604020104020204" pitchFamily="34" charset="0"/>
              </a:rPr>
              <a:t>Proactive</a:t>
            </a:r>
            <a:r>
              <a:rPr lang="en-GB" sz="1400" i="1" dirty="0">
                <a:latin typeface="Abadi" panose="020B0604020104020204" pitchFamily="34" charset="0"/>
              </a:rPr>
              <a:t> decision making </a:t>
            </a:r>
            <a:endParaRPr lang="en-GB" b="1" i="1" dirty="0">
              <a:latin typeface="Abadi" panose="020B0604020104020204" pitchFamily="34" charset="0"/>
            </a:endParaRPr>
          </a:p>
        </p:txBody>
      </p:sp>
      <p:pic>
        <p:nvPicPr>
          <p:cNvPr id="14" name="Graphic 13" descr="Left Brain with solid fill">
            <a:extLst>
              <a:ext uri="{FF2B5EF4-FFF2-40B4-BE49-F238E27FC236}">
                <a16:creationId xmlns:a16="http://schemas.microsoft.com/office/drawing/2014/main" id="{AAC704AC-6F6D-C464-A961-243191DB95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13085" y="640716"/>
            <a:ext cx="360000" cy="360000"/>
          </a:xfrm>
          <a:prstGeom prst="rect">
            <a:avLst/>
          </a:prstGeom>
        </p:spPr>
      </p:pic>
      <p:pic>
        <p:nvPicPr>
          <p:cNvPr id="16" name="Graphic 15" descr="Server with solid fill">
            <a:extLst>
              <a:ext uri="{FF2B5EF4-FFF2-40B4-BE49-F238E27FC236}">
                <a16:creationId xmlns:a16="http://schemas.microsoft.com/office/drawing/2014/main" id="{DAF06AB0-7FB6-42C8-1565-5A8239F6A9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03656" y="597172"/>
            <a:ext cx="360000" cy="360000"/>
          </a:xfrm>
          <a:prstGeom prst="rect">
            <a:avLst/>
          </a:prstGeom>
        </p:spPr>
      </p:pic>
      <p:pic>
        <p:nvPicPr>
          <p:cNvPr id="18" name="Graphic 17" descr="Network with solid fill">
            <a:extLst>
              <a:ext uri="{FF2B5EF4-FFF2-40B4-BE49-F238E27FC236}">
                <a16:creationId xmlns:a16="http://schemas.microsoft.com/office/drawing/2014/main" id="{994C7C80-CD52-DA77-D6D7-CB98EE7996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4026" y="597172"/>
            <a:ext cx="360000" cy="360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1F047B2-84EA-E926-47C9-1DF05455900A}"/>
              </a:ext>
            </a:extLst>
          </p:cNvPr>
          <p:cNvSpPr txBox="1"/>
          <p:nvPr/>
        </p:nvSpPr>
        <p:spPr>
          <a:xfrm>
            <a:off x="113910" y="957171"/>
            <a:ext cx="1132116" cy="7617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Capture</a:t>
            </a:r>
          </a:p>
          <a:p>
            <a:r>
              <a:rPr lang="en-GB" sz="1050" i="1" dirty="0"/>
              <a:t>Multi-stream sensor data collected in-situ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5C6CA8-190B-6007-B0F3-F69A7A810590}"/>
              </a:ext>
            </a:extLst>
          </p:cNvPr>
          <p:cNvSpPr txBox="1"/>
          <p:nvPr/>
        </p:nvSpPr>
        <p:spPr>
          <a:xfrm>
            <a:off x="1806260" y="1000715"/>
            <a:ext cx="9217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Analyse</a:t>
            </a:r>
          </a:p>
          <a:p>
            <a:r>
              <a:rPr lang="en-GB" sz="1000" i="1" dirty="0"/>
              <a:t>ML models find patterns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4D966A-ADF6-E48B-1797-C1BC8F3CA8F6}"/>
              </a:ext>
            </a:extLst>
          </p:cNvPr>
          <p:cNvSpPr txBox="1"/>
          <p:nvPr/>
        </p:nvSpPr>
        <p:spPr>
          <a:xfrm>
            <a:off x="3304991" y="971072"/>
            <a:ext cx="11690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Optimize</a:t>
            </a:r>
          </a:p>
          <a:p>
            <a:r>
              <a:rPr lang="en-GB" sz="1000" i="1" dirty="0"/>
              <a:t> Algorithms run ‘What-if’ scenarios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F49218-30BF-6530-801F-C079FCB166D8}"/>
              </a:ext>
            </a:extLst>
          </p:cNvPr>
          <p:cNvCxnSpPr/>
          <p:nvPr/>
        </p:nvCxnSpPr>
        <p:spPr>
          <a:xfrm>
            <a:off x="1066026" y="827314"/>
            <a:ext cx="555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FFD3715-2A8E-B279-802E-92C1D28210F6}"/>
              </a:ext>
            </a:extLst>
          </p:cNvPr>
          <p:cNvCxnSpPr/>
          <p:nvPr/>
        </p:nvCxnSpPr>
        <p:spPr>
          <a:xfrm flipH="1">
            <a:off x="2600912" y="827314"/>
            <a:ext cx="5442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9C106B-4062-185B-C311-245DA95F48A4}"/>
              </a:ext>
            </a:extLst>
          </p:cNvPr>
          <p:cNvSpPr txBox="1"/>
          <p:nvPr/>
        </p:nvSpPr>
        <p:spPr>
          <a:xfrm>
            <a:off x="0" y="1758890"/>
            <a:ext cx="5253520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Speed: </a:t>
            </a:r>
            <a:r>
              <a:rPr lang="en-GB" sz="1200" i="1" dirty="0"/>
              <a:t>rapid scenario analysis &amp; response to operational disruptions</a:t>
            </a:r>
            <a:endParaRPr lang="en-GB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Agility: </a:t>
            </a:r>
            <a:r>
              <a:rPr lang="en-GB" sz="1200" i="1" dirty="0"/>
              <a:t>continuous improvement through self-learning algos</a:t>
            </a:r>
            <a:endParaRPr lang="en-GB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Integration: </a:t>
            </a:r>
            <a:r>
              <a:rPr lang="en-GB" sz="1200" i="1" dirty="0"/>
              <a:t>integration between physical systems and enterprise-level strategies</a:t>
            </a:r>
            <a:r>
              <a:rPr lang="en-GB" sz="1200" b="1" dirty="0"/>
              <a:t>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49FDA6-1A92-DB2C-D84B-642389CF5A3B}"/>
              </a:ext>
            </a:extLst>
          </p:cNvPr>
          <p:cNvSpPr txBox="1"/>
          <p:nvPr/>
        </p:nvSpPr>
        <p:spPr>
          <a:xfrm>
            <a:off x="-1" y="2621950"/>
            <a:ext cx="5253521" cy="83099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sz="1200" b="1" dirty="0"/>
              <a:t>Volume : </a:t>
            </a:r>
            <a:r>
              <a:rPr lang="en-GB" sz="1200" dirty="0"/>
              <a:t>scale of data processed</a:t>
            </a:r>
            <a:endParaRPr lang="en-GB" sz="1200" b="1" dirty="0"/>
          </a:p>
          <a:p>
            <a:r>
              <a:rPr lang="en-GB" sz="1200" b="1" dirty="0"/>
              <a:t>Velocity: </a:t>
            </a:r>
            <a:r>
              <a:rPr lang="en-GB" sz="1200" dirty="0"/>
              <a:t>speed at which data is generated &amp; processed</a:t>
            </a:r>
            <a:endParaRPr lang="en-GB" sz="1200" b="1" dirty="0"/>
          </a:p>
          <a:p>
            <a:r>
              <a:rPr lang="en-GB" sz="1200" b="1" dirty="0"/>
              <a:t>Variety: </a:t>
            </a:r>
            <a:r>
              <a:rPr lang="en-GB" sz="1200" dirty="0"/>
              <a:t>diversity of data types &amp; formats</a:t>
            </a:r>
            <a:endParaRPr lang="en-GB" sz="1200" b="1" dirty="0"/>
          </a:p>
          <a:p>
            <a:r>
              <a:rPr lang="en-GB" sz="1200" b="1" dirty="0"/>
              <a:t>Veracity: </a:t>
            </a:r>
            <a:r>
              <a:rPr lang="en-GB" sz="1200" dirty="0"/>
              <a:t>reliability &amp; accuracy of data</a:t>
            </a:r>
            <a:endParaRPr lang="en-GB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BA4F58-9339-1A96-F0F5-F9E55621C316}"/>
              </a:ext>
            </a:extLst>
          </p:cNvPr>
          <p:cNvSpPr txBox="1"/>
          <p:nvPr/>
        </p:nvSpPr>
        <p:spPr>
          <a:xfrm>
            <a:off x="5552300" y="5205037"/>
            <a:ext cx="6508239" cy="16312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sz="1600" b="1" dirty="0"/>
              <a:t>DOMAINS IN BIG DATA</a:t>
            </a:r>
          </a:p>
          <a:p>
            <a:pPr marL="285750" indent="-285750">
              <a:buFontTx/>
              <a:buChar char="-"/>
            </a:pPr>
            <a:r>
              <a:rPr lang="en-GB" sz="1200" b="1" dirty="0"/>
              <a:t>Adaptive diagnostics &amp; prognosis: </a:t>
            </a:r>
            <a:r>
              <a:rPr lang="en-GB" sz="1200" dirty="0"/>
              <a:t>Uses real‑time and historical data to detect issues early and predict future failures.</a:t>
            </a:r>
          </a:p>
          <a:p>
            <a:pPr marL="285750" indent="-285750">
              <a:buFontTx/>
              <a:buChar char="-"/>
            </a:pPr>
            <a:r>
              <a:rPr lang="en-GB" sz="1200" b="1" dirty="0"/>
              <a:t>Predictive analytics: </a:t>
            </a:r>
            <a:r>
              <a:rPr lang="en-GB" sz="1200" dirty="0"/>
              <a:t>Analyses large datasets to forecast trends, behaviours, and outcomes.</a:t>
            </a:r>
            <a:endParaRPr lang="en-GB" sz="1200" b="1" dirty="0"/>
          </a:p>
          <a:p>
            <a:pPr marL="285750" indent="-285750">
              <a:buFontTx/>
              <a:buChar char="-"/>
            </a:pPr>
            <a:r>
              <a:rPr lang="en-GB" sz="1200" b="1" dirty="0"/>
              <a:t>Process control &amp; monitoring</a:t>
            </a:r>
            <a:r>
              <a:rPr lang="en-GB" sz="1200" dirty="0"/>
              <a:t>: tracks operations continuously  to maintain efficiency, quality and stability</a:t>
            </a:r>
          </a:p>
          <a:p>
            <a:pPr marL="285750" indent="-285750">
              <a:buFontTx/>
              <a:buChar char="-"/>
            </a:pPr>
            <a:r>
              <a:rPr lang="en-GB" sz="1200" b="1" dirty="0"/>
              <a:t>Maintenance &amp; services logistics: </a:t>
            </a:r>
            <a:r>
              <a:rPr lang="en-GB" sz="1200" dirty="0"/>
              <a:t>Optimizes when &amp; how maintenance happens to reduce downtime and improve resource planning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DE59F9-3329-7F31-EA04-4F44E6903FEC}"/>
              </a:ext>
            </a:extLst>
          </p:cNvPr>
          <p:cNvSpPr txBox="1"/>
          <p:nvPr/>
        </p:nvSpPr>
        <p:spPr>
          <a:xfrm>
            <a:off x="5253520" y="-22554"/>
            <a:ext cx="69384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COGNITIVE AGENTS</a:t>
            </a:r>
          </a:p>
          <a:p>
            <a:r>
              <a:rPr lang="en-GB" sz="1200" i="1" dirty="0"/>
              <a:t>Mimic human reasoning by perceived information, interpreting it  and making autonomous decisions based on defined goals </a:t>
            </a:r>
          </a:p>
        </p:txBody>
      </p:sp>
      <p:graphicFrame>
        <p:nvGraphicFramePr>
          <p:cNvPr id="36" name="Diagram 35">
            <a:extLst>
              <a:ext uri="{FF2B5EF4-FFF2-40B4-BE49-F238E27FC236}">
                <a16:creationId xmlns:a16="http://schemas.microsoft.com/office/drawing/2014/main" id="{2A1F254C-B4CB-F9A4-B60C-0B8465AE45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31998"/>
              </p:ext>
            </p:extLst>
          </p:nvPr>
        </p:nvGraphicFramePr>
        <p:xfrm>
          <a:off x="5212715" y="807483"/>
          <a:ext cx="2772364" cy="21207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B5538372-DBA7-6580-A4E9-E770BB228F76}"/>
              </a:ext>
            </a:extLst>
          </p:cNvPr>
          <p:cNvSpPr txBox="1"/>
          <p:nvPr/>
        </p:nvSpPr>
        <p:spPr>
          <a:xfrm>
            <a:off x="65225" y="5857285"/>
            <a:ext cx="23698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BIOMEDICAL RESEARCH: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Image 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Signal 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Genomics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DA4A0-D506-577E-6925-F980249C2582}"/>
              </a:ext>
            </a:extLst>
          </p:cNvPr>
          <p:cNvSpPr txBox="1"/>
          <p:nvPr/>
        </p:nvSpPr>
        <p:spPr>
          <a:xfrm>
            <a:off x="8477824" y="3103651"/>
            <a:ext cx="358271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DISEASE-CENTERED TO PATIENT-CENTERED CARE</a:t>
            </a:r>
          </a:p>
          <a:p>
            <a:r>
              <a:rPr lang="en-GB" sz="1200" dirty="0"/>
              <a:t>Patient-</a:t>
            </a:r>
            <a:r>
              <a:rPr lang="en-GB" sz="1200" dirty="0" err="1"/>
              <a:t>centered</a:t>
            </a:r>
            <a:r>
              <a:rPr lang="en-GB" sz="1200" dirty="0"/>
              <a:t> - decisions are guided by data and individual needs</a:t>
            </a:r>
          </a:p>
          <a:p>
            <a:r>
              <a:rPr lang="en-GB" sz="1200" dirty="0"/>
              <a:t>Disease-</a:t>
            </a:r>
            <a:r>
              <a:rPr lang="en-GB" sz="1200" dirty="0" err="1"/>
              <a:t>centered</a:t>
            </a:r>
            <a:r>
              <a:rPr lang="en-GB" sz="1200" dirty="0"/>
              <a:t> - heavy reliance on medical evidence, clinical expertise &amp; diagnostic tests</a:t>
            </a:r>
          </a:p>
          <a:p>
            <a:endParaRPr lang="en-GB" sz="1200" dirty="0"/>
          </a:p>
          <a:p>
            <a:r>
              <a:rPr lang="en-GB" sz="1200" i="1" dirty="0"/>
              <a:t>Predictive models can now predict the early signs of diabetes or heart disease by combining genetic data with patient lifestyle information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53564ED5-E9DE-0755-FF90-9A1E948286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2678345"/>
              </p:ext>
            </p:extLst>
          </p:nvPr>
        </p:nvGraphicFramePr>
        <p:xfrm>
          <a:off x="84974" y="3017887"/>
          <a:ext cx="4767969" cy="29195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1033518-3678-B7D9-BFDF-412A95C570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1490111"/>
              </p:ext>
            </p:extLst>
          </p:nvPr>
        </p:nvGraphicFramePr>
        <p:xfrm>
          <a:off x="8363915" y="640716"/>
          <a:ext cx="3696624" cy="2176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7">
                  <a:extLst>
                    <a:ext uri="{9D8B030D-6E8A-4147-A177-3AD203B41FA5}">
                      <a16:colId xmlns:a16="http://schemas.microsoft.com/office/drawing/2014/main" val="2254450347"/>
                    </a:ext>
                  </a:extLst>
                </a:gridCol>
                <a:gridCol w="2316777">
                  <a:extLst>
                    <a:ext uri="{9D8B030D-6E8A-4147-A177-3AD203B41FA5}">
                      <a16:colId xmlns:a16="http://schemas.microsoft.com/office/drawing/2014/main" val="3035643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050" dirty="0"/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050" dirty="0"/>
                        <a:t>Function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9534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050" dirty="0"/>
                        <a:t>NoSQL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050" dirty="0"/>
                        <a:t>Unstructured &amp; semi-structured</a:t>
                      </a:r>
                    </a:p>
                    <a:p>
                      <a:r>
                        <a:rPr lang="en-GB" sz="1050" i="1" dirty="0"/>
                        <a:t>Netflix user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4300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05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050" dirty="0"/>
                        <a:t>Stores data in JSON-like structures</a:t>
                      </a:r>
                    </a:p>
                    <a:p>
                      <a:r>
                        <a:rPr lang="en-GB" sz="1050" i="1" dirty="0"/>
                        <a:t>Social media, IoT, multimedia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3981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050" dirty="0"/>
                        <a:t>Hadoop Clusters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050" dirty="0"/>
                        <a:t>Distributed storage &amp;  processing</a:t>
                      </a:r>
                    </a:p>
                    <a:p>
                      <a:r>
                        <a:rPr lang="en-GB" sz="1050" i="1" dirty="0"/>
                        <a:t>Banking &amp; telecom for large scale trend detection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4569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050" dirty="0"/>
                        <a:t>Autonomous data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050" dirty="0"/>
                        <a:t>AI managed systems that self-optimize for storage,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2289653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DA51F529-37D4-825E-B1F8-0779112F57D5}"/>
              </a:ext>
            </a:extLst>
          </p:cNvPr>
          <p:cNvGrpSpPr/>
          <p:nvPr/>
        </p:nvGrpSpPr>
        <p:grpSpPr>
          <a:xfrm>
            <a:off x="5598343" y="3037383"/>
            <a:ext cx="2772364" cy="2167654"/>
            <a:chOff x="5635713" y="3037383"/>
            <a:chExt cx="2772364" cy="2167654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3EE30840-080F-8FBF-355B-774F84D831F0}"/>
                </a:ext>
              </a:extLst>
            </p:cNvPr>
            <p:cNvSpPr/>
            <p:nvPr/>
          </p:nvSpPr>
          <p:spPr>
            <a:xfrm>
              <a:off x="5635713" y="3382813"/>
              <a:ext cx="2772364" cy="411109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26EB9174-C92D-6A62-37F4-2D03733C3858}"/>
                </a:ext>
              </a:extLst>
            </p:cNvPr>
            <p:cNvSpPr/>
            <p:nvPr/>
          </p:nvSpPr>
          <p:spPr>
            <a:xfrm>
              <a:off x="5635713" y="3842759"/>
              <a:ext cx="2772364" cy="411109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51E5171C-BBBF-886D-4A98-6BACEC7E39A6}"/>
                </a:ext>
              </a:extLst>
            </p:cNvPr>
            <p:cNvSpPr/>
            <p:nvPr/>
          </p:nvSpPr>
          <p:spPr>
            <a:xfrm>
              <a:off x="5635713" y="4302705"/>
              <a:ext cx="2772364" cy="411109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7A6401EE-BE40-EDCF-E02A-A3DAEF382676}"/>
                </a:ext>
              </a:extLst>
            </p:cNvPr>
            <p:cNvSpPr/>
            <p:nvPr/>
          </p:nvSpPr>
          <p:spPr>
            <a:xfrm>
              <a:off x="5635713" y="4762650"/>
              <a:ext cx="2772364" cy="411109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42" name="Graphic 41" descr="Database with solid fill">
              <a:extLst>
                <a:ext uri="{FF2B5EF4-FFF2-40B4-BE49-F238E27FC236}">
                  <a16:creationId xmlns:a16="http://schemas.microsoft.com/office/drawing/2014/main" id="{89C13A92-B60B-E704-1507-88F1BDA4DA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704785" y="3429039"/>
              <a:ext cx="255824" cy="318656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C013A23-2F2E-0EE7-D007-AD165FB54275}"/>
                </a:ext>
              </a:extLst>
            </p:cNvPr>
            <p:cNvSpPr txBox="1"/>
            <p:nvPr/>
          </p:nvSpPr>
          <p:spPr>
            <a:xfrm>
              <a:off x="6028301" y="3458119"/>
              <a:ext cx="2298275" cy="252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Autonomous databases </a:t>
              </a:r>
            </a:p>
          </p:txBody>
        </p:sp>
        <p:pic>
          <p:nvPicPr>
            <p:cNvPr id="40" name="Graphic 39" descr="Upload with solid fill">
              <a:extLst>
                <a:ext uri="{FF2B5EF4-FFF2-40B4-BE49-F238E27FC236}">
                  <a16:creationId xmlns:a16="http://schemas.microsoft.com/office/drawing/2014/main" id="{F86A4447-6F45-CBF1-D9AE-7FF1E68DC8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704785" y="3878332"/>
              <a:ext cx="255824" cy="318656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6E984F7-543B-8152-C37B-3743BB5D7DE3}"/>
                </a:ext>
              </a:extLst>
            </p:cNvPr>
            <p:cNvSpPr txBox="1"/>
            <p:nvPr/>
          </p:nvSpPr>
          <p:spPr>
            <a:xfrm>
              <a:off x="6035609" y="3953183"/>
              <a:ext cx="2247481" cy="2451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Autonomous data warehouses</a:t>
              </a:r>
            </a:p>
          </p:txBody>
        </p:sp>
        <p:pic>
          <p:nvPicPr>
            <p:cNvPr id="38" name="Graphic 37" descr="Internet with solid fill">
              <a:extLst>
                <a:ext uri="{FF2B5EF4-FFF2-40B4-BE49-F238E27FC236}">
                  <a16:creationId xmlns:a16="http://schemas.microsoft.com/office/drawing/2014/main" id="{D57C36B0-ADDC-BB30-A792-973623B988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712096" y="4358078"/>
              <a:ext cx="255824" cy="318656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FE5C83B-FDC9-194B-567E-F20212397A5B}"/>
                </a:ext>
              </a:extLst>
            </p:cNvPr>
            <p:cNvSpPr txBox="1"/>
            <p:nvPr/>
          </p:nvSpPr>
          <p:spPr>
            <a:xfrm>
              <a:off x="6044303" y="4397730"/>
              <a:ext cx="2282698" cy="2451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Content management systems</a:t>
              </a:r>
            </a:p>
          </p:txBody>
        </p:sp>
        <p:pic>
          <p:nvPicPr>
            <p:cNvPr id="45" name="Graphic 44" descr="Server with solid fill">
              <a:extLst>
                <a:ext uri="{FF2B5EF4-FFF2-40B4-BE49-F238E27FC236}">
                  <a16:creationId xmlns:a16="http://schemas.microsoft.com/office/drawing/2014/main" id="{DD3FF253-9042-0526-A9D9-44F4C8831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726049" y="4796391"/>
              <a:ext cx="255824" cy="318656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63AEAA2-6AC0-0773-4325-59023D7619BA}"/>
                </a:ext>
              </a:extLst>
            </p:cNvPr>
            <p:cNvSpPr txBox="1"/>
            <p:nvPr/>
          </p:nvSpPr>
          <p:spPr>
            <a:xfrm>
              <a:off x="6070829" y="4796391"/>
              <a:ext cx="2255747" cy="408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GB" sz="1200" dirty="0"/>
            </a:p>
            <a:p>
              <a:endParaRPr lang="en-GB" sz="12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0C6E54-6A18-8ACA-C95C-9B384E7DCE99}"/>
                </a:ext>
              </a:extLst>
            </p:cNvPr>
            <p:cNvSpPr txBox="1"/>
            <p:nvPr/>
          </p:nvSpPr>
          <p:spPr>
            <a:xfrm>
              <a:off x="5981873" y="4831922"/>
              <a:ext cx="238073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Complex computational clusters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94B590-5C29-D7EE-4312-7D9EA49F25D3}"/>
                </a:ext>
              </a:extLst>
            </p:cNvPr>
            <p:cNvSpPr txBox="1"/>
            <p:nvPr/>
          </p:nvSpPr>
          <p:spPr>
            <a:xfrm>
              <a:off x="5832697" y="3037383"/>
              <a:ext cx="21523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/>
                <a:t>Cognitive agents rely on: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17608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2">
      <a:majorFont>
        <a:latin typeface="Abadi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3142</TotalTime>
  <Words>378</Words>
  <Application>Microsoft Office PowerPoint</Application>
  <PresentationFormat>Widescreen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Abadi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Dorothy Cheruiyot</dc:creator>
  <cp:lastModifiedBy>Dorothy Cheruiyot</cp:lastModifiedBy>
  <cp:revision>2</cp:revision>
  <dcterms:created xsi:type="dcterms:W3CDTF">2026-02-01T18:27:05Z</dcterms:created>
  <dcterms:modified xsi:type="dcterms:W3CDTF">2026-02-04T17:03:56Z</dcterms:modified>
</cp:coreProperties>
</file>