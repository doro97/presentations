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1" r:id="rId3"/>
    <p:sldId id="260" r:id="rId4"/>
    <p:sldId id="262"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DA89F-2793-8093-D9BB-53718BC155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C56D9BC-2C19-BAD6-5502-41686ED42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861B40B-4F18-3EC8-95A8-7F3276E22CD9}"/>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DE48611F-87AF-4F31-5761-6860BB3216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E155CD-65E6-FDFA-5CB6-164F273748F5}"/>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75573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83D0-2081-762C-1FC9-8F20EC1A7DD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B06739-766A-759F-F8B1-CA012DA377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5356AE-69B9-E092-43AF-3BD7E1548F4F}"/>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10E59B85-2F4F-3CA2-E3BE-F84DBBEAD7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5F9BBB-E230-E69D-A65E-94F839DA3977}"/>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904568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025C-38C1-4D4B-45D7-B484481A56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9F8661C-16AD-CA59-6693-9D05C78013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431C7-B99D-8520-E83B-F48863011F07}"/>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509BB348-8880-0CCA-32E0-42137B0995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494770-9EA9-D89D-886B-B44156AEC08A}"/>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217942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C377C-679D-2310-59EB-20E9E45C6C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5956225-CD80-C127-DBEC-8DFC67AE40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B12FD6D-A9AE-CE0F-72CC-5BE61A08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BD9AD7B-8828-B6C1-0028-D34BC782CE22}"/>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6" name="Footer Placeholder 5">
            <a:extLst>
              <a:ext uri="{FF2B5EF4-FFF2-40B4-BE49-F238E27FC236}">
                <a16:creationId xmlns:a16="http://schemas.microsoft.com/office/drawing/2014/main" id="{F266C724-20AA-5AAB-C7F2-51FD2CC863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52A9EB5-FA98-E3A8-5739-95BFF157199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12185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E554E-9DC9-7674-F6ED-FCF69E6253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1AAA2AD-7B76-0AB8-6D14-95C0CD4AA2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6ED2D4-E3FA-C024-5AED-061E09786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FE4719-475F-925A-6F39-341DE33FFD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1B4151-132E-E4A6-160D-13D72ABD2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864116E-D23A-F929-A22C-F12040B26445}"/>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8" name="Footer Placeholder 7">
            <a:extLst>
              <a:ext uri="{FF2B5EF4-FFF2-40B4-BE49-F238E27FC236}">
                <a16:creationId xmlns:a16="http://schemas.microsoft.com/office/drawing/2014/main" id="{4B485D87-BBFC-034E-C0FC-FD1E24017A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B45F265-7B1E-7123-0E39-77201DB77F02}"/>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920518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C05C-666B-2FD9-50D7-C6191C69F7A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B7FD46C-2FD2-7C3E-ACB5-C74483D017BA}"/>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4" name="Footer Placeholder 3">
            <a:extLst>
              <a:ext uri="{FF2B5EF4-FFF2-40B4-BE49-F238E27FC236}">
                <a16:creationId xmlns:a16="http://schemas.microsoft.com/office/drawing/2014/main" id="{00C1BB3F-D25B-DA6D-A845-0CAADAB8E7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FE8A0FD-F21B-5EC6-4F7C-A70932C1B29F}"/>
              </a:ext>
            </a:extLst>
          </p:cNvPr>
          <p:cNvSpPr>
            <a:spLocks noGrp="1"/>
          </p:cNvSpPr>
          <p:nvPr>
            <p:ph type="sldNum" sz="quarter" idx="12"/>
          </p:nvPr>
        </p:nvSpPr>
        <p:spPr/>
        <p:txBody>
          <a:bodyPr/>
          <a:lstStyle/>
          <a:p>
            <a:fld id="{8F52F6E2-CFE7-4A96-9F96-5A8FCEEE53A5}" type="slidenum">
              <a:rPr lang="en-GB" smtClean="0"/>
              <a:t>‹#›</a:t>
            </a:fld>
            <a:endParaRPr lang="en-GB"/>
          </a:p>
        </p:txBody>
      </p:sp>
      <p:sp>
        <p:nvSpPr>
          <p:cNvPr id="6" name="TextBox 5">
            <a:extLst>
              <a:ext uri="{FF2B5EF4-FFF2-40B4-BE49-F238E27FC236}">
                <a16:creationId xmlns:a16="http://schemas.microsoft.com/office/drawing/2014/main" id="{4A2143F6-0A8F-E5AB-A845-6191C57A1113}"/>
              </a:ext>
            </a:extLst>
          </p:cNvPr>
          <p:cNvSpPr txBox="1"/>
          <p:nvPr userDrawn="1"/>
        </p:nvSpPr>
        <p:spPr>
          <a:xfrm rot="1680000">
            <a:off x="5040573" y="3013602"/>
            <a:ext cx="1759875" cy="369332"/>
          </a:xfrm>
          <a:prstGeom prst="rect">
            <a:avLst/>
          </a:prstGeom>
          <a:noFill/>
        </p:spPr>
        <p:txBody>
          <a:bodyPr wrap="square" rtlCol="0">
            <a:spAutoFit/>
          </a:bodyPr>
          <a:lstStyle/>
          <a:p>
            <a:r>
              <a:rPr lang="en-GB" dirty="0">
                <a:latin typeface="Baguet Script" panose="020F0502020204030204" pitchFamily="2" charset="0"/>
                <a:cs typeface="Arabic Typesetting" panose="020F0502020204030204" pitchFamily="66" charset="-78"/>
              </a:rPr>
              <a:t>Dorothy Cheptoo</a:t>
            </a:r>
          </a:p>
        </p:txBody>
      </p:sp>
    </p:spTree>
    <p:extLst>
      <p:ext uri="{BB962C8B-B14F-4D97-AF65-F5344CB8AC3E}">
        <p14:creationId xmlns:p14="http://schemas.microsoft.com/office/powerpoint/2010/main" val="4096965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8DA7BD-0C9B-1335-7670-1A2F96EF85F3}"/>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3" name="Footer Placeholder 2">
            <a:extLst>
              <a:ext uri="{FF2B5EF4-FFF2-40B4-BE49-F238E27FC236}">
                <a16:creationId xmlns:a16="http://schemas.microsoft.com/office/drawing/2014/main" id="{1493C076-75D1-BAB1-3003-AB4E2E3E08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F60BD5-BD1A-85DC-C061-1B9E538F0A2D}"/>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44960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7C33-4189-9DB8-BCA9-A8BEB44D8E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4FD29A3-9489-AB87-9BE2-4271AD106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3CC8C47-C061-F0A5-CE28-8467493E2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E8D7F9-755B-B051-72C3-9FDAFB3EBAE9}"/>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6" name="Footer Placeholder 5">
            <a:extLst>
              <a:ext uri="{FF2B5EF4-FFF2-40B4-BE49-F238E27FC236}">
                <a16:creationId xmlns:a16="http://schemas.microsoft.com/office/drawing/2014/main" id="{B4C3D7BB-4D55-B513-429C-2AA588426B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7EBACC-CFA4-202E-F9BE-5EECBCDA6E6F}"/>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2080430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D961-C24C-0703-C898-47E4EF1FD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EA7AE43-DC8F-D2B4-C5F5-659E170F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D1C0D0A-3B16-7A94-933C-1D5C39CDE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526A5-E834-6326-46E9-0B2A7C11AC8D}"/>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6" name="Footer Placeholder 5">
            <a:extLst>
              <a:ext uri="{FF2B5EF4-FFF2-40B4-BE49-F238E27FC236}">
                <a16:creationId xmlns:a16="http://schemas.microsoft.com/office/drawing/2014/main" id="{BFAFF0B0-A788-2A19-5186-0F129A8A25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6A8A161-6F60-C09D-265D-C499F4B32929}"/>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83444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7044-F4E8-7371-0F29-A8621A7CE29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F416C88-18F8-429A-BFDC-D634EA46DF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333C2A-0D32-65A4-6D64-903EC6D97FD7}"/>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E1856E02-17BB-A591-ED32-2C584F7074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0C5BB2-8D0A-2EED-6A6A-C5ECB2B7A8F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99682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87C5C-E050-0DD4-490A-B67F4ECA68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C77F8E5-F77A-237C-2A21-CD03BEE1BB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236713-C19A-0FBA-0BCE-934903EEE914}"/>
              </a:ext>
            </a:extLst>
          </p:cNvPr>
          <p:cNvSpPr>
            <a:spLocks noGrp="1"/>
          </p:cNvSpPr>
          <p:nvPr>
            <p:ph type="dt" sz="half" idx="10"/>
          </p:nvPr>
        </p:nvSpPr>
        <p:spPr/>
        <p:txBody>
          <a:body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BC484906-D014-713E-5E1A-A4EF2A63DF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F82D51-CA7E-84E9-1442-3CE30CCFEAC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753364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0F960-97ED-BE8C-0F08-B6DB91663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CB4A72-317A-2D5E-CFDE-5138BC812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344F61-1EE1-EB91-D241-F5E1DA45A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933FF7-048F-4924-9250-E8344A1DB8C9}" type="datetimeFigureOut">
              <a:rPr lang="en-GB" smtClean="0"/>
              <a:t>01/02/2026</a:t>
            </a:fld>
            <a:endParaRPr lang="en-GB"/>
          </a:p>
        </p:txBody>
      </p:sp>
      <p:sp>
        <p:nvSpPr>
          <p:cNvPr id="5" name="Footer Placeholder 4">
            <a:extLst>
              <a:ext uri="{FF2B5EF4-FFF2-40B4-BE49-F238E27FC236}">
                <a16:creationId xmlns:a16="http://schemas.microsoft.com/office/drawing/2014/main" id="{487B69E7-FE17-7E25-ABCC-1132881E95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E267EC3-9DD1-4A08-484A-D62DC5536F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52F6E2-CFE7-4A96-9F96-5A8FCEEE53A5}" type="slidenum">
              <a:rPr lang="en-GB" smtClean="0"/>
              <a:t>‹#›</a:t>
            </a:fld>
            <a:endParaRPr lang="en-GB"/>
          </a:p>
        </p:txBody>
      </p:sp>
      <p:sp>
        <p:nvSpPr>
          <p:cNvPr id="7" name="TextBox 6">
            <a:extLst>
              <a:ext uri="{FF2B5EF4-FFF2-40B4-BE49-F238E27FC236}">
                <a16:creationId xmlns:a16="http://schemas.microsoft.com/office/drawing/2014/main" id="{AD0FC28A-9588-98F0-DEEA-982D29F135DA}"/>
              </a:ext>
            </a:extLst>
          </p:cNvPr>
          <p:cNvSpPr txBox="1"/>
          <p:nvPr userDrawn="1"/>
        </p:nvSpPr>
        <p:spPr>
          <a:xfrm rot="1680000">
            <a:off x="4892791" y="2921239"/>
            <a:ext cx="1759875" cy="369332"/>
          </a:xfrm>
          <a:prstGeom prst="rect">
            <a:avLst/>
          </a:prstGeom>
          <a:noFill/>
        </p:spPr>
        <p:txBody>
          <a:bodyPr wrap="square" rtlCol="0">
            <a:spAutoFit/>
          </a:bodyPr>
          <a:lstStyle/>
          <a:p>
            <a:r>
              <a:rPr lang="en-GB" dirty="0">
                <a:latin typeface="Bradley Hand ITC" panose="03070402050302030203" pitchFamily="66" charset="0"/>
                <a:cs typeface="Arabic Typesetting" panose="020F0502020204030204" pitchFamily="66" charset="-78"/>
              </a:rPr>
              <a:t>Dorothy Cheptoo</a:t>
            </a:r>
          </a:p>
        </p:txBody>
      </p:sp>
    </p:spTree>
    <p:extLst>
      <p:ext uri="{BB962C8B-B14F-4D97-AF65-F5344CB8AC3E}">
        <p14:creationId xmlns:p14="http://schemas.microsoft.com/office/powerpoint/2010/main" val="2687404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0109A82-3065-688F-6A4B-6CEFF9800061}"/>
              </a:ext>
            </a:extLst>
          </p:cNvPr>
          <p:cNvGrpSpPr/>
          <p:nvPr/>
        </p:nvGrpSpPr>
        <p:grpSpPr>
          <a:xfrm>
            <a:off x="329510" y="474406"/>
            <a:ext cx="11269981" cy="4868307"/>
            <a:chOff x="361188" y="3543626"/>
            <a:chExt cx="11269981" cy="4868307"/>
          </a:xfrm>
        </p:grpSpPr>
        <p:sp>
          <p:nvSpPr>
            <p:cNvPr id="4" name="TextBox 3">
              <a:extLst>
                <a:ext uri="{FF2B5EF4-FFF2-40B4-BE49-F238E27FC236}">
                  <a16:creationId xmlns:a16="http://schemas.microsoft.com/office/drawing/2014/main" id="{BCDFF037-5A59-4C21-AFC8-7688E0EC166C}"/>
                </a:ext>
              </a:extLst>
            </p:cNvPr>
            <p:cNvSpPr txBox="1"/>
            <p:nvPr/>
          </p:nvSpPr>
          <p:spPr>
            <a:xfrm>
              <a:off x="361188" y="3543626"/>
              <a:ext cx="4855464" cy="138499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sz="1200" b="1" dirty="0">
                  <a:latin typeface="Abadi" panose="020B0604020104020204" pitchFamily="34" charset="0"/>
                </a:rPr>
                <a:t>SEMANTIC KERNEL</a:t>
              </a:r>
            </a:p>
            <a:p>
              <a:pPr marL="171450" indent="-171450">
                <a:buFontTx/>
                <a:buChar char="-"/>
              </a:pPr>
              <a:r>
                <a:rPr lang="en-GB" sz="1200" dirty="0">
                  <a:latin typeface="Abadi" panose="020B0604020104020204" pitchFamily="34" charset="0"/>
                </a:rPr>
                <a:t>Introduced skills, functions, planner &amp; memory connectors</a:t>
              </a:r>
            </a:p>
            <a:p>
              <a:pPr marL="171450" indent="-171450">
                <a:buFontTx/>
                <a:buChar char="-"/>
              </a:pPr>
              <a:r>
                <a:rPr lang="en-GB" sz="1200" dirty="0">
                  <a:latin typeface="Abadi" panose="020B0604020104020204" pitchFamily="34" charset="0"/>
                </a:rPr>
                <a:t>Brought structure to prompt structure</a:t>
              </a:r>
            </a:p>
            <a:p>
              <a:pPr marL="171450" indent="-171450">
                <a:buFontTx/>
                <a:buChar char="-"/>
              </a:pPr>
              <a:endParaRPr lang="en-GB" sz="1200" dirty="0">
                <a:latin typeface="Abadi" panose="020B0604020104020204" pitchFamily="34" charset="0"/>
              </a:endParaRPr>
            </a:p>
            <a:p>
              <a:pPr marL="171450" indent="-171450">
                <a:buFontTx/>
                <a:buChar char="-"/>
              </a:pPr>
              <a:r>
                <a:rPr lang="en-GB" sz="1200" dirty="0">
                  <a:latin typeface="Abadi" panose="020B0604020104020204" pitchFamily="34" charset="0"/>
                </a:rPr>
                <a:t>Planner was not reliable for multi-step scenarios </a:t>
              </a:r>
            </a:p>
            <a:p>
              <a:pPr marL="171450" indent="-171450">
                <a:buFontTx/>
                <a:buChar char="-"/>
              </a:pPr>
              <a:r>
                <a:rPr lang="en-GB" sz="1200" dirty="0">
                  <a:latin typeface="Abadi" panose="020B0604020104020204" pitchFamily="34" charset="0"/>
                </a:rPr>
                <a:t>Middleware and security was wanting</a:t>
              </a:r>
            </a:p>
            <a:p>
              <a:pPr marL="171450" indent="-171450">
                <a:buFontTx/>
                <a:buChar char="-"/>
              </a:pPr>
              <a:endParaRPr lang="en-GB" sz="1200" dirty="0">
                <a:latin typeface="Abadi" panose="020B0604020104020204" pitchFamily="34" charset="0"/>
              </a:endParaRPr>
            </a:p>
          </p:txBody>
        </p:sp>
        <p:sp>
          <p:nvSpPr>
            <p:cNvPr id="5" name="TextBox 4">
              <a:extLst>
                <a:ext uri="{FF2B5EF4-FFF2-40B4-BE49-F238E27FC236}">
                  <a16:creationId xmlns:a16="http://schemas.microsoft.com/office/drawing/2014/main" id="{936B0025-4199-CC26-A218-BDAE6D527917}"/>
                </a:ext>
              </a:extLst>
            </p:cNvPr>
            <p:cNvSpPr txBox="1"/>
            <p:nvPr/>
          </p:nvSpPr>
          <p:spPr>
            <a:xfrm>
              <a:off x="6775705" y="3604972"/>
              <a:ext cx="4855464"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1200" b="1" dirty="0">
                  <a:latin typeface="Abadi" panose="020B0604020104020204" pitchFamily="34" charset="0"/>
                </a:rPr>
                <a:t>AUTOGEN</a:t>
              </a:r>
            </a:p>
            <a:p>
              <a:pPr marL="171450" indent="-171450">
                <a:buFontTx/>
                <a:buChar char="-"/>
              </a:pPr>
              <a:r>
                <a:rPr lang="en-GB" sz="1200" dirty="0">
                  <a:latin typeface="Abadi" panose="020B0604020104020204" pitchFamily="34" charset="0"/>
                </a:rPr>
                <a:t>Multi-agent collaboration</a:t>
              </a:r>
            </a:p>
            <a:p>
              <a:endParaRPr lang="en-GB" sz="1200" dirty="0">
                <a:latin typeface="Abadi" panose="020B0604020104020204" pitchFamily="34" charset="0"/>
              </a:endParaRPr>
            </a:p>
            <a:p>
              <a:r>
                <a:rPr lang="en-GB" sz="1200" dirty="0">
                  <a:latin typeface="Abadi" panose="020B0604020104020204" pitchFamily="34" charset="0"/>
                </a:rPr>
                <a:t>- Lacked enterprise-grade integration, MCP integration, observability, not aligned with Azure ecosystem(security</a:t>
              </a:r>
              <a:r>
                <a:rPr lang="en-GB" sz="1200" b="1" dirty="0">
                  <a:latin typeface="Abadi" panose="020B0604020104020204" pitchFamily="34" charset="0"/>
                </a:rPr>
                <a:t>,</a:t>
              </a:r>
            </a:p>
            <a:p>
              <a:endParaRPr lang="en-GB" sz="1200" b="1" dirty="0">
                <a:latin typeface="Abadi" panose="020B0604020104020204" pitchFamily="34" charset="0"/>
              </a:endParaRPr>
            </a:p>
          </p:txBody>
        </p:sp>
        <p:sp>
          <p:nvSpPr>
            <p:cNvPr id="6" name="TextBox 5">
              <a:extLst>
                <a:ext uri="{FF2B5EF4-FFF2-40B4-BE49-F238E27FC236}">
                  <a16:creationId xmlns:a16="http://schemas.microsoft.com/office/drawing/2014/main" id="{11331EE9-5CC6-4214-8456-FBD6940367AF}"/>
                </a:ext>
              </a:extLst>
            </p:cNvPr>
            <p:cNvSpPr txBox="1"/>
            <p:nvPr/>
          </p:nvSpPr>
          <p:spPr>
            <a:xfrm>
              <a:off x="3628537" y="7396270"/>
              <a:ext cx="4160521"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200" b="1" dirty="0">
                  <a:latin typeface="Abadi" panose="020B0604020104020204" pitchFamily="34" charset="0"/>
                </a:rPr>
                <a:t>MICROSOFT AGENT FRAMEWORK</a:t>
              </a:r>
            </a:p>
            <a:p>
              <a:pPr marL="285750" indent="-285750">
                <a:buFontTx/>
                <a:buChar char="-"/>
              </a:pPr>
              <a:r>
                <a:rPr lang="en-GB" sz="1200" dirty="0">
                  <a:latin typeface="Abadi" panose="020B0604020104020204" pitchFamily="34" charset="0"/>
                </a:rPr>
                <a:t>Developer framework for building, orchestrating and managing AI Agents in a structured, scalable, secure way</a:t>
              </a:r>
            </a:p>
            <a:p>
              <a:pPr marL="285750" indent="-285750">
                <a:buFontTx/>
                <a:buChar char="-"/>
              </a:pPr>
              <a:r>
                <a:rPr lang="en-GB" sz="1200" dirty="0">
                  <a:latin typeface="Abadi" panose="020B0604020104020204" pitchFamily="34" charset="0"/>
                </a:rPr>
                <a:t>Works perfectly with Azure</a:t>
              </a:r>
            </a:p>
            <a:p>
              <a:pPr marL="285750" indent="-285750">
                <a:buFontTx/>
                <a:buChar char="-"/>
              </a:pPr>
              <a:r>
                <a:rPr lang="en-GB" sz="1200" dirty="0">
                  <a:latin typeface="Abadi" panose="020B0604020104020204" pitchFamily="34" charset="0"/>
                </a:rPr>
                <a:t>Modular and clean and extensible</a:t>
              </a:r>
            </a:p>
          </p:txBody>
        </p:sp>
        <p:cxnSp>
          <p:nvCxnSpPr>
            <p:cNvPr id="7" name="Connector: Elbow 6">
              <a:extLst>
                <a:ext uri="{FF2B5EF4-FFF2-40B4-BE49-F238E27FC236}">
                  <a16:creationId xmlns:a16="http://schemas.microsoft.com/office/drawing/2014/main" id="{47EF8875-E1FE-3F68-DC93-7153F8216BD6}"/>
                </a:ext>
              </a:extLst>
            </p:cNvPr>
            <p:cNvCxnSpPr>
              <a:cxnSpLocks/>
              <a:stCxn id="4" idx="2"/>
              <a:endCxn id="6" idx="1"/>
            </p:cNvCxnSpPr>
            <p:nvPr/>
          </p:nvCxnSpPr>
          <p:spPr>
            <a:xfrm rot="16200000" flipH="1">
              <a:off x="1720988" y="5996552"/>
              <a:ext cx="2975481" cy="839617"/>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3C368199-6685-3DAF-C83B-668BD4336DF0}"/>
                </a:ext>
              </a:extLst>
            </p:cNvPr>
            <p:cNvCxnSpPr>
              <a:cxnSpLocks/>
              <a:stCxn id="5" idx="2"/>
              <a:endCxn id="6" idx="3"/>
            </p:cNvCxnSpPr>
            <p:nvPr/>
          </p:nvCxnSpPr>
          <p:spPr>
            <a:xfrm rot="5400000">
              <a:off x="6946848" y="5647512"/>
              <a:ext cx="3098801" cy="1414379"/>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4E0272-4897-801B-61AA-460FE0ED5053}"/>
                </a:ext>
              </a:extLst>
            </p:cNvPr>
            <p:cNvSpPr txBox="1"/>
            <p:nvPr/>
          </p:nvSpPr>
          <p:spPr>
            <a:xfrm>
              <a:off x="1651634" y="5954591"/>
              <a:ext cx="2274569" cy="400110"/>
            </a:xfrm>
            <a:prstGeom prst="rect">
              <a:avLst/>
            </a:prstGeom>
            <a:solidFill>
              <a:schemeClr val="accent5">
                <a:lumMod val="20000"/>
                <a:lumOff val="80000"/>
              </a:schemeClr>
            </a:solidFill>
          </p:spPr>
          <p:txBody>
            <a:bodyPr wrap="square" rtlCol="0">
              <a:spAutoFit/>
            </a:bodyPr>
            <a:lstStyle/>
            <a:p>
              <a:r>
                <a:rPr lang="en-GB" sz="1000" i="1" dirty="0">
                  <a:latin typeface="Abadi" panose="020B0604020104020204" pitchFamily="34" charset="0"/>
                </a:rPr>
                <a:t>WHAT WAS USED:</a:t>
              </a:r>
            </a:p>
            <a:p>
              <a:r>
                <a:rPr lang="en-GB" sz="1000" i="1" dirty="0">
                  <a:latin typeface="Abadi" panose="020B0604020104020204" pitchFamily="34" charset="0"/>
                </a:rPr>
                <a:t>- Structured approach</a:t>
              </a:r>
            </a:p>
          </p:txBody>
        </p:sp>
        <p:sp>
          <p:nvSpPr>
            <p:cNvPr id="10" name="TextBox 9">
              <a:extLst>
                <a:ext uri="{FF2B5EF4-FFF2-40B4-BE49-F238E27FC236}">
                  <a16:creationId xmlns:a16="http://schemas.microsoft.com/office/drawing/2014/main" id="{F7DDF114-8B85-1DCF-075B-FF3F41FDCD4D}"/>
                </a:ext>
              </a:extLst>
            </p:cNvPr>
            <p:cNvSpPr txBox="1"/>
            <p:nvPr/>
          </p:nvSpPr>
          <p:spPr>
            <a:xfrm>
              <a:off x="7676285" y="5954591"/>
              <a:ext cx="2540507" cy="400110"/>
            </a:xfrm>
            <a:prstGeom prst="rect">
              <a:avLst/>
            </a:prstGeom>
            <a:solidFill>
              <a:schemeClr val="accent2">
                <a:lumMod val="20000"/>
                <a:lumOff val="80000"/>
              </a:schemeClr>
            </a:solidFill>
          </p:spPr>
          <p:txBody>
            <a:bodyPr wrap="square" rtlCol="0">
              <a:spAutoFit/>
            </a:bodyPr>
            <a:lstStyle/>
            <a:p>
              <a:r>
                <a:rPr lang="en-GB" sz="1000" b="1" dirty="0">
                  <a:latin typeface="Abadi" panose="020B0604020104020204" pitchFamily="34" charset="0"/>
                </a:rPr>
                <a:t>WHAT WAS USED</a:t>
              </a:r>
            </a:p>
            <a:p>
              <a:r>
                <a:rPr lang="en-GB" sz="1000" b="1" i="1" dirty="0">
                  <a:latin typeface="Abadi" panose="020B0604020104020204" pitchFamily="34" charset="0"/>
                </a:rPr>
                <a:t>- flexibility</a:t>
              </a:r>
              <a:endParaRPr lang="en-GB" sz="1000" i="1" dirty="0">
                <a:latin typeface="Abadi" panose="020B0604020104020204" pitchFamily="34" charset="0"/>
              </a:endParaRPr>
            </a:p>
          </p:txBody>
        </p:sp>
      </p:grpSp>
      <p:sp>
        <p:nvSpPr>
          <p:cNvPr id="11" name="TextBox 10">
            <a:extLst>
              <a:ext uri="{FF2B5EF4-FFF2-40B4-BE49-F238E27FC236}">
                <a16:creationId xmlns:a16="http://schemas.microsoft.com/office/drawing/2014/main" id="{8D9CDE37-D4CD-3DD0-042A-5EE02174C469}"/>
              </a:ext>
            </a:extLst>
          </p:cNvPr>
          <p:cNvSpPr txBox="1"/>
          <p:nvPr/>
        </p:nvSpPr>
        <p:spPr>
          <a:xfrm>
            <a:off x="2377440" y="-14376"/>
            <a:ext cx="6812280" cy="369332"/>
          </a:xfrm>
          <a:prstGeom prst="rect">
            <a:avLst/>
          </a:prstGeom>
          <a:noFill/>
        </p:spPr>
        <p:txBody>
          <a:bodyPr wrap="square" rtlCol="0">
            <a:spAutoFit/>
          </a:bodyPr>
          <a:lstStyle/>
          <a:p>
            <a:r>
              <a:rPr lang="en-GB" b="1" dirty="0">
                <a:solidFill>
                  <a:schemeClr val="accent5">
                    <a:lumMod val="60000"/>
                    <a:lumOff val="40000"/>
                  </a:schemeClr>
                </a:solidFill>
                <a:latin typeface="Abadi" panose="020B0604020104020204" pitchFamily="34" charset="0"/>
              </a:rPr>
              <a:t>MICROSOFT AGENT FRAMEWORK</a:t>
            </a:r>
            <a:endParaRPr lang="en-GB" b="1" dirty="0">
              <a:solidFill>
                <a:schemeClr val="accent2">
                  <a:lumMod val="75000"/>
                </a:schemeClr>
              </a:solidFill>
              <a:latin typeface="Abadi" panose="020B0604020104020204" pitchFamily="34" charset="0"/>
            </a:endParaRPr>
          </a:p>
        </p:txBody>
      </p:sp>
      <p:sp>
        <p:nvSpPr>
          <p:cNvPr id="20" name="TextBox 19">
            <a:extLst>
              <a:ext uri="{FF2B5EF4-FFF2-40B4-BE49-F238E27FC236}">
                <a16:creationId xmlns:a16="http://schemas.microsoft.com/office/drawing/2014/main" id="{01F1286F-1E03-865A-5222-C33C1C4E2742}"/>
              </a:ext>
            </a:extLst>
          </p:cNvPr>
          <p:cNvSpPr txBox="1"/>
          <p:nvPr/>
        </p:nvSpPr>
        <p:spPr>
          <a:xfrm>
            <a:off x="7918594" y="5165462"/>
            <a:ext cx="3323410" cy="1015663"/>
          </a:xfrm>
          <a:prstGeom prst="rect">
            <a:avLst/>
          </a:prstGeom>
          <a:noFill/>
        </p:spPr>
        <p:txBody>
          <a:bodyPr wrap="square" rtlCol="0">
            <a:spAutoFit/>
          </a:bodyPr>
          <a:lstStyle/>
          <a:p>
            <a:r>
              <a:rPr lang="en-GB" sz="1000" dirty="0">
                <a:latin typeface="Abadi" panose="020B0604020104020204" pitchFamily="34" charset="0"/>
              </a:rPr>
              <a:t>Attach different tools, maintain conversation state using threads, connect data sources securely using MCP, build workflows to orchestrate different agents, insert middleware for guardrails, logging and validation, observe, debug and manage all the flows in a prod environment</a:t>
            </a:r>
            <a:endParaRPr lang="en-GB" sz="1000" dirty="0"/>
          </a:p>
        </p:txBody>
      </p:sp>
    </p:spTree>
    <p:extLst>
      <p:ext uri="{BB962C8B-B14F-4D97-AF65-F5344CB8AC3E}">
        <p14:creationId xmlns:p14="http://schemas.microsoft.com/office/powerpoint/2010/main" val="3502244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D7D5E6-504C-1D9C-0170-C15049E77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143" y="0"/>
            <a:ext cx="10123714" cy="6749143"/>
          </a:xfrm>
          <a:prstGeom prst="rect">
            <a:avLst/>
          </a:prstGeom>
        </p:spPr>
      </p:pic>
    </p:spTree>
    <p:extLst>
      <p:ext uri="{BB962C8B-B14F-4D97-AF65-F5344CB8AC3E}">
        <p14:creationId xmlns:p14="http://schemas.microsoft.com/office/powerpoint/2010/main" val="45025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0CBFB3A-1EEF-F039-8459-4C4319782FEE}"/>
              </a:ext>
            </a:extLst>
          </p:cNvPr>
          <p:cNvGraphicFramePr>
            <a:graphicFrameLocks noGrp="1"/>
          </p:cNvGraphicFramePr>
          <p:nvPr>
            <p:extLst>
              <p:ext uri="{D42A27DB-BD31-4B8C-83A1-F6EECF244321}">
                <p14:modId xmlns:p14="http://schemas.microsoft.com/office/powerpoint/2010/main" val="3212412734"/>
              </p:ext>
            </p:extLst>
          </p:nvPr>
        </p:nvGraphicFramePr>
        <p:xfrm>
          <a:off x="244928" y="367769"/>
          <a:ext cx="11702143" cy="6126480"/>
        </p:xfrm>
        <a:graphic>
          <a:graphicData uri="http://schemas.openxmlformats.org/drawingml/2006/table">
            <a:tbl>
              <a:tblPr firstRow="1" bandRow="1">
                <a:tableStyleId>{073A0DAA-6AF3-43AB-8588-CEC1D06C72B9}</a:tableStyleId>
              </a:tblPr>
              <a:tblGrid>
                <a:gridCol w="979714">
                  <a:extLst>
                    <a:ext uri="{9D8B030D-6E8A-4147-A177-3AD203B41FA5}">
                      <a16:colId xmlns:a16="http://schemas.microsoft.com/office/drawing/2014/main" val="1749051103"/>
                    </a:ext>
                  </a:extLst>
                </a:gridCol>
                <a:gridCol w="4290969">
                  <a:extLst>
                    <a:ext uri="{9D8B030D-6E8A-4147-A177-3AD203B41FA5}">
                      <a16:colId xmlns:a16="http://schemas.microsoft.com/office/drawing/2014/main" val="125949359"/>
                    </a:ext>
                  </a:extLst>
                </a:gridCol>
                <a:gridCol w="6431460">
                  <a:extLst>
                    <a:ext uri="{9D8B030D-6E8A-4147-A177-3AD203B41FA5}">
                      <a16:colId xmlns:a16="http://schemas.microsoft.com/office/drawing/2014/main" val="847273937"/>
                    </a:ext>
                  </a:extLst>
                </a:gridCol>
              </a:tblGrid>
              <a:tr h="163286">
                <a:tc>
                  <a:txBody>
                    <a:bodyPr/>
                    <a:lstStyle/>
                    <a:p>
                      <a:endParaRPr lang="en-GB" sz="1200" dirty="0">
                        <a:solidFill>
                          <a:schemeClr val="tx1"/>
                        </a:solidFill>
                        <a:latin typeface="Abadi" panose="020B0604020104020204" pitchFamily="34" charset="0"/>
                      </a:endParaRPr>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solidFill>
                            <a:schemeClr val="tx1"/>
                          </a:solidFill>
                          <a:latin typeface="Abadi" panose="020B0604020104020204" pitchFamily="34" charset="0"/>
                        </a:rPr>
                        <a:t>Function</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solidFill>
                            <a:schemeClr val="tx1"/>
                          </a:solidFill>
                          <a:latin typeface="Abadi" panose="020B0604020104020204" pitchFamily="34" charset="0"/>
                        </a:rPr>
                        <a:t>Notes</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50162874"/>
                  </a:ext>
                </a:extLst>
              </a:tr>
              <a:tr h="707571">
                <a:tc>
                  <a:txBody>
                    <a:bodyPr/>
                    <a:lstStyle/>
                    <a:p>
                      <a:r>
                        <a:rPr lang="en-GB" sz="1200" dirty="0">
                          <a:latin typeface="Abadi" panose="020B0604020104020204" pitchFamily="34" charset="0"/>
                        </a:rPr>
                        <a:t>Agents</a:t>
                      </a:r>
                    </a:p>
                  </a:txBody>
                  <a:tcPr>
                    <a:lnL w="3175"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Receive messages, reason using models and decide action to take </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Can use built-in agents i.e.; </a:t>
                      </a:r>
                      <a:r>
                        <a:rPr lang="en-GB" sz="1200" dirty="0" err="1">
                          <a:latin typeface="Abadi" panose="020B0604020104020204" pitchFamily="34" charset="0"/>
                        </a:rPr>
                        <a:t>ChatClient</a:t>
                      </a:r>
                      <a:r>
                        <a:rPr lang="en-GB" sz="1200" dirty="0">
                          <a:latin typeface="Abadi" panose="020B0604020104020204" pitchFamily="34" charset="0"/>
                        </a:rPr>
                        <a:t> or custom agents</a:t>
                      </a:r>
                    </a:p>
                    <a:p>
                      <a:pPr marL="171450" indent="-171450">
                        <a:buFontTx/>
                        <a:buChar char="-"/>
                      </a:pPr>
                      <a:r>
                        <a:rPr lang="en-GB" sz="1200" dirty="0">
                          <a:latin typeface="Abadi" panose="020B0604020104020204" pitchFamily="34" charset="0"/>
                        </a:rPr>
                        <a:t>Non-streaming mode: get response at once.  Great for backend where once the agent has provided all information</a:t>
                      </a:r>
                    </a:p>
                    <a:p>
                      <a:pPr marL="171450" indent="-171450">
                        <a:buFontTx/>
                        <a:buChar char="-"/>
                      </a:pPr>
                      <a:r>
                        <a:rPr lang="en-GB" sz="1200" dirty="0">
                          <a:latin typeface="Abadi" panose="020B0604020104020204" pitchFamily="34" charset="0"/>
                        </a:rPr>
                        <a:t>Streaming mode : receive partial tokens as they are generated. Great for chatbots or voice bots where you don’t have to wait for the agent to complete its response</a:t>
                      </a:r>
                    </a:p>
                    <a:p>
                      <a:pPr marL="171450" indent="-171450">
                        <a:buFontTx/>
                        <a:buChar char="-"/>
                      </a:pPr>
                      <a:r>
                        <a:rPr lang="en-GB" sz="1200" dirty="0">
                          <a:latin typeface="Abadi" panose="020B0604020104020204" pitchFamily="34" charset="0"/>
                        </a:rPr>
                        <a:t>Structured output </a:t>
                      </a:r>
                      <a:r>
                        <a:rPr lang="en-GB" sz="1200" dirty="0" err="1">
                          <a:latin typeface="Abadi" panose="020B0604020104020204" pitchFamily="34" charset="0"/>
                        </a:rPr>
                        <a:t>ie</a:t>
                      </a:r>
                      <a:r>
                        <a:rPr lang="en-GB" sz="1200" dirty="0">
                          <a:latin typeface="Abadi" panose="020B0604020104020204" pitchFamily="34" charset="0"/>
                        </a:rPr>
                        <a:t> JSON useful for predicting output downstream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81590602"/>
                  </a:ext>
                </a:extLst>
              </a:tr>
              <a:tr h="381000">
                <a:tc>
                  <a:txBody>
                    <a:bodyPr/>
                    <a:lstStyle/>
                    <a:p>
                      <a:r>
                        <a:rPr lang="en-GB" sz="1200" dirty="0">
                          <a:latin typeface="Abadi" panose="020B0604020104020204" pitchFamily="34" charset="0"/>
                        </a:rPr>
                        <a:t>Threads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Stores conversation history and state. Each conversation happens inside a thread, allowing for multi-turn conversations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Every time an agent runs, it happens within a thread. In-memory(maintains context in a single conversation)</a:t>
                      </a:r>
                    </a:p>
                    <a:p>
                      <a:pPr marL="285750" indent="-285750">
                        <a:buFontTx/>
                        <a:buChar char="-"/>
                      </a:pPr>
                      <a:r>
                        <a:rPr lang="en-GB" sz="1200" dirty="0">
                          <a:latin typeface="Abadi" panose="020B0604020104020204" pitchFamily="34" charset="0"/>
                        </a:rPr>
                        <a:t>Great for multi-turn conversation</a:t>
                      </a:r>
                    </a:p>
                    <a:p>
                      <a:pPr marL="285750" indent="-285750">
                        <a:buFontTx/>
                        <a:buChar char="-"/>
                      </a:pPr>
                      <a:r>
                        <a:rPr lang="en-GB" sz="1200" dirty="0">
                          <a:latin typeface="Abadi" panose="020B0604020104020204" pitchFamily="34" charset="0"/>
                        </a:rPr>
                        <a:t>Makes conversations durable over sessions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85037546"/>
                  </a:ext>
                </a:extLst>
              </a:tr>
              <a:tr h="598714">
                <a:tc>
                  <a:txBody>
                    <a:bodyPr/>
                    <a:lstStyle/>
                    <a:p>
                      <a:r>
                        <a:rPr lang="en-GB" sz="1200" dirty="0">
                          <a:latin typeface="Abadi" panose="020B0604020104020204" pitchFamily="34" charset="0"/>
                        </a:rPr>
                        <a:t>Tools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Functions/APIs an agent can call to get work done. They can be in-built or custom tools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Makes an agent useful</a:t>
                      </a:r>
                    </a:p>
                    <a:p>
                      <a:pPr marL="285750" indent="-285750">
                        <a:buFontTx/>
                        <a:buChar char="-"/>
                      </a:pPr>
                      <a:r>
                        <a:rPr lang="en-GB" sz="1200" dirty="0">
                          <a:latin typeface="Abadi" panose="020B0604020104020204" pitchFamily="34" charset="0"/>
                        </a:rPr>
                        <a:t>Can be attached on agent creation or dynamically at run time</a:t>
                      </a:r>
                    </a:p>
                    <a:p>
                      <a:pPr marL="285750" indent="-285750">
                        <a:buFontTx/>
                        <a:buChar char="-"/>
                      </a:pPr>
                      <a:r>
                        <a:rPr lang="en-GB" sz="1200" dirty="0">
                          <a:latin typeface="Abadi" panose="020B0604020104020204" pitchFamily="34" charset="0"/>
                        </a:rPr>
                        <a:t>Model decides when to call a tool based on its schema or conversation</a:t>
                      </a:r>
                    </a:p>
                    <a:p>
                      <a:pPr marL="285750" indent="-285750">
                        <a:buFontTx/>
                        <a:buChar char="-"/>
                      </a:pPr>
                      <a:r>
                        <a:rPr lang="en-GB" sz="1200" dirty="0">
                          <a:latin typeface="Abadi" panose="020B0604020104020204" pitchFamily="34" charset="0"/>
                        </a:rPr>
                        <a:t>Tool can be secured so the agent can only attach allowed functions. Crucial for enterprise solutions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74746782"/>
                  </a:ext>
                </a:extLst>
              </a:tr>
              <a:tr h="925286">
                <a:tc>
                  <a:txBody>
                    <a:bodyPr/>
                    <a:lstStyle/>
                    <a:p>
                      <a:r>
                        <a:rPr lang="en-GB" sz="1200" dirty="0">
                          <a:latin typeface="Abadi" panose="020B0604020104020204" pitchFamily="34" charset="0"/>
                        </a:rPr>
                        <a:t>Middleware</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Layer that wraps around the agent and intercepts requests and responses for additional logic and transformation.</a:t>
                      </a:r>
                      <a:br>
                        <a:rPr lang="en-GB" sz="1200" dirty="0">
                          <a:latin typeface="Abadi" panose="020B0604020104020204" pitchFamily="34" charset="0"/>
                        </a:rPr>
                      </a:br>
                      <a:r>
                        <a:rPr lang="en-GB" sz="1200" dirty="0">
                          <a:latin typeface="Abadi" panose="020B0604020104020204" pitchFamily="34" charset="0"/>
                        </a:rPr>
                        <a:t>Let’s you attach logging guardrails, authentication, transformation logic around agents or tools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buFontTx/>
                        <a:buChar char="-"/>
                      </a:pPr>
                      <a:r>
                        <a:rPr lang="en-GB" sz="1200" dirty="0">
                          <a:latin typeface="Abadi" panose="020B0604020104020204" pitchFamily="34" charset="0"/>
                        </a:rPr>
                        <a:t>Gives interception points around function calls or model interactions</a:t>
                      </a:r>
                    </a:p>
                    <a:p>
                      <a:pPr marL="171450" indent="-171450">
                        <a:buFontTx/>
                        <a:buChar char="-"/>
                      </a:pPr>
                      <a:r>
                        <a:rPr lang="en-GB" sz="1200" dirty="0">
                          <a:latin typeface="Abadi" panose="020B0604020104020204" pitchFamily="34" charset="0"/>
                        </a:rPr>
                        <a:t>Agent Run middleware - wraps the entire agent run. Useful for logging and authentication</a:t>
                      </a:r>
                    </a:p>
                    <a:p>
                      <a:pPr marL="171450" indent="-171450">
                        <a:buFontTx/>
                        <a:buChar char="-"/>
                      </a:pPr>
                      <a:r>
                        <a:rPr lang="en-GB" sz="1200" dirty="0">
                          <a:latin typeface="Abadi" panose="020B0604020104020204" pitchFamily="34" charset="0"/>
                        </a:rPr>
                        <a:t>Function calling middleware – wraps around a tool call. Useful for validation and security</a:t>
                      </a:r>
                    </a:p>
                    <a:p>
                      <a:pPr marL="171450" indent="-171450">
                        <a:buFontTx/>
                        <a:buChar char="-"/>
                      </a:pPr>
                      <a:r>
                        <a:rPr lang="en-GB" sz="1200" dirty="0">
                          <a:latin typeface="Abadi" panose="020B0604020104020204" pitchFamily="34" charset="0"/>
                        </a:rPr>
                        <a:t>Chat client middleware – intercepts model calls. Useful for tracing and transformation</a:t>
                      </a:r>
                    </a:p>
                    <a:p>
                      <a:pPr marL="171450" indent="-171450">
                        <a:buFontTx/>
                        <a:buChar char="-"/>
                      </a:pPr>
                      <a:r>
                        <a:rPr lang="en-GB" sz="1200" dirty="0">
                          <a:latin typeface="Abadi" panose="020B0604020104020204" pitchFamily="34" charset="0"/>
                        </a:rPr>
                        <a:t>Benefits: Maintainability( instead of adding these features to agents directly, plug them into middleware)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62833852"/>
                  </a:ext>
                </a:extLst>
              </a:tr>
              <a:tr h="381000">
                <a:tc>
                  <a:txBody>
                    <a:bodyPr/>
                    <a:lstStyle/>
                    <a:p>
                      <a:r>
                        <a:rPr lang="en-GB" sz="1200" dirty="0">
                          <a:latin typeface="Abadi" panose="020B0604020104020204" pitchFamily="34" charset="0"/>
                        </a:rPr>
                        <a:t>Workflows</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Gives a way to wire multiple agents and steps together using executors and edges to build sequential or parallel flows</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Graph-based orchestrations: each step is an executor and edges connect executors</a:t>
                      </a:r>
                    </a:p>
                    <a:p>
                      <a:pPr marL="285750" indent="-285750">
                        <a:buFontTx/>
                        <a:buChar char="-"/>
                      </a:pPr>
                      <a:r>
                        <a:rPr lang="en-GB" sz="1200" dirty="0">
                          <a:latin typeface="Abadi" panose="020B0604020104020204" pitchFamily="34" charset="0"/>
                        </a:rPr>
                        <a:t>Has different orchestration patterns making multi-agent collaboration clean and manageable </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578302550"/>
                  </a:ext>
                </a:extLst>
              </a:tr>
              <a:tr h="272143">
                <a:tc>
                  <a:txBody>
                    <a:bodyPr/>
                    <a:lstStyle/>
                    <a:p>
                      <a:r>
                        <a:rPr lang="en-GB" sz="1200" dirty="0">
                          <a:latin typeface="Abadi" panose="020B0604020104020204" pitchFamily="34" charset="0"/>
                        </a:rPr>
                        <a:t>MCP</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Allows agents to dynamically discover and use external tool servers i.e.: DBs, APIs</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buFontTx/>
                        <a:buChar char="-"/>
                      </a:pPr>
                      <a:r>
                        <a:rPr lang="en-GB" sz="1200" dirty="0">
                          <a:latin typeface="Abadi" panose="020B0604020104020204" pitchFamily="34" charset="0"/>
                        </a:rPr>
                        <a:t>Allows agent  to connect to external MCP servers and discover tools dynamically i.e. : instead of hardcoding SQL connector or API, you can expose the DB via MCP, and the agent will query it securely during runtime</a:t>
                      </a:r>
                    </a:p>
                    <a:p>
                      <a:pPr marL="171450" indent="-171450">
                        <a:buFontTx/>
                        <a:buChar char="-"/>
                      </a:pPr>
                      <a:r>
                        <a:rPr lang="en-GB" sz="1200" dirty="0">
                          <a:latin typeface="Abadi" panose="020B0604020104020204" pitchFamily="34" charset="0"/>
                        </a:rPr>
                        <a:t>Hence different teams can connect to the MCP server created and connect various agents to it</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4217841"/>
                  </a:ext>
                </a:extLst>
              </a:tr>
            </a:tbl>
          </a:graphicData>
        </a:graphic>
      </p:graphicFrame>
      <p:sp>
        <p:nvSpPr>
          <p:cNvPr id="10" name="TextBox 9">
            <a:extLst>
              <a:ext uri="{FF2B5EF4-FFF2-40B4-BE49-F238E27FC236}">
                <a16:creationId xmlns:a16="http://schemas.microsoft.com/office/drawing/2014/main" id="{7CC16C12-F92B-F21F-CA6C-34967CB5431D}"/>
              </a:ext>
            </a:extLst>
          </p:cNvPr>
          <p:cNvSpPr txBox="1"/>
          <p:nvPr/>
        </p:nvSpPr>
        <p:spPr>
          <a:xfrm>
            <a:off x="0" y="-11276"/>
            <a:ext cx="7630885" cy="369332"/>
          </a:xfrm>
          <a:prstGeom prst="rect">
            <a:avLst/>
          </a:prstGeom>
          <a:noFill/>
        </p:spPr>
        <p:txBody>
          <a:bodyPr wrap="square" rtlCol="0">
            <a:spAutoFit/>
          </a:bodyPr>
          <a:lstStyle/>
          <a:p>
            <a:r>
              <a:rPr lang="en-GB" b="1" dirty="0">
                <a:latin typeface="Abadi" panose="020B0604020104020204" pitchFamily="34" charset="0"/>
              </a:rPr>
              <a:t>COMPONENTS DESCRIPTION</a:t>
            </a:r>
          </a:p>
        </p:txBody>
      </p:sp>
    </p:spTree>
    <p:extLst>
      <p:ext uri="{BB962C8B-B14F-4D97-AF65-F5344CB8AC3E}">
        <p14:creationId xmlns:p14="http://schemas.microsoft.com/office/powerpoint/2010/main" val="1813651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92EA0D-B495-AEF1-8916-D1E003C359E4}"/>
              </a:ext>
            </a:extLst>
          </p:cNvPr>
          <p:cNvSpPr txBox="1"/>
          <p:nvPr/>
        </p:nvSpPr>
        <p:spPr>
          <a:xfrm>
            <a:off x="-76200" y="54446"/>
            <a:ext cx="10983686" cy="369332"/>
          </a:xfrm>
          <a:prstGeom prst="rect">
            <a:avLst/>
          </a:prstGeom>
          <a:noFill/>
        </p:spPr>
        <p:txBody>
          <a:bodyPr wrap="square" rtlCol="0">
            <a:spAutoFit/>
          </a:bodyPr>
          <a:lstStyle/>
          <a:p>
            <a:r>
              <a:rPr lang="en-GB" b="1" dirty="0">
                <a:latin typeface="Abadi" panose="020B0604020104020204" pitchFamily="34" charset="0"/>
              </a:rPr>
              <a:t>PRODUCTION-READY ARCHITECTURE: </a:t>
            </a:r>
            <a:r>
              <a:rPr lang="en-GB" i="1" dirty="0">
                <a:latin typeface="Abadi" panose="020B0604020104020204" pitchFamily="34" charset="0"/>
              </a:rPr>
              <a:t>What should you do to make your solution production ready</a:t>
            </a:r>
            <a:r>
              <a:rPr lang="en-GB" dirty="0">
                <a:latin typeface="Abadi" panose="020B0604020104020204" pitchFamily="34" charset="0"/>
              </a:rPr>
              <a:t>?</a:t>
            </a:r>
          </a:p>
        </p:txBody>
      </p:sp>
      <p:sp>
        <p:nvSpPr>
          <p:cNvPr id="3" name="TextBox 2">
            <a:extLst>
              <a:ext uri="{FF2B5EF4-FFF2-40B4-BE49-F238E27FC236}">
                <a16:creationId xmlns:a16="http://schemas.microsoft.com/office/drawing/2014/main" id="{BE51CB70-0FF9-62F2-CE01-2560BE367CEB}"/>
              </a:ext>
            </a:extLst>
          </p:cNvPr>
          <p:cNvSpPr txBox="1"/>
          <p:nvPr/>
        </p:nvSpPr>
        <p:spPr>
          <a:xfrm>
            <a:off x="0" y="506220"/>
            <a:ext cx="5769429" cy="3508653"/>
          </a:xfrm>
          <a:prstGeom prst="rect">
            <a:avLst/>
          </a:prstGeom>
          <a:noFill/>
        </p:spPr>
        <p:txBody>
          <a:bodyPr wrap="square" rtlCol="0">
            <a:spAutoFit/>
          </a:bodyPr>
          <a:lstStyle/>
          <a:p>
            <a:r>
              <a:rPr lang="en-GB" b="1" dirty="0">
                <a:latin typeface="Abadi" panose="020B0604020104020204" pitchFamily="34" charset="0"/>
              </a:rPr>
              <a:t>SERIALIZATION &amp; DESERIALIZATION</a:t>
            </a:r>
          </a:p>
          <a:p>
            <a:r>
              <a:rPr lang="en-GB" sz="1200" dirty="0">
                <a:latin typeface="Abadi" panose="020B0604020104020204" pitchFamily="34" charset="0"/>
              </a:rPr>
              <a:t>Enhances memory/context storage and great for keep entire conversations</a:t>
            </a:r>
          </a:p>
          <a:p>
            <a:r>
              <a:rPr lang="en-GB" sz="1200" dirty="0">
                <a:latin typeface="Abadi" panose="020B0604020104020204" pitchFamily="34" charset="0"/>
              </a:rPr>
              <a:t>Serialization – converting the current state of the thread into a structure format (JSON)</a:t>
            </a:r>
          </a:p>
          <a:p>
            <a:r>
              <a:rPr lang="en-GB" sz="1200" dirty="0">
                <a:latin typeface="Abadi" panose="020B0604020104020204" pitchFamily="34" charset="0"/>
              </a:rPr>
              <a:t>Deserialization – constructing the initial thread from that structured format</a:t>
            </a:r>
          </a:p>
          <a:p>
            <a:r>
              <a:rPr lang="en-GB" sz="1200" dirty="0">
                <a:latin typeface="Abadi" panose="020B0604020104020204" pitchFamily="34" charset="0"/>
              </a:rPr>
              <a:t>Once a thread is serialized, it can be stored anywhere locally, SQL, Azure Blob, Redis(cache), NoSQL</a:t>
            </a:r>
          </a:p>
          <a:p>
            <a:r>
              <a:rPr lang="en-GB" sz="1200" dirty="0">
                <a:latin typeface="Abadi" panose="020B0604020104020204" pitchFamily="34" charset="0"/>
              </a:rPr>
              <a:t>On deserialization, the agent picks up the conversation from where it left before</a:t>
            </a:r>
          </a:p>
          <a:p>
            <a:endParaRPr lang="en-GB" dirty="0">
              <a:latin typeface="Abadi" panose="020B0604020104020204" pitchFamily="34" charset="0"/>
            </a:endParaRPr>
          </a:p>
          <a:p>
            <a:r>
              <a:rPr lang="en-GB" b="1" dirty="0">
                <a:latin typeface="Abadi" panose="020B0604020104020204" pitchFamily="34" charset="0"/>
              </a:rPr>
              <a:t>CONTEXT PROVIDERS(LONG TERM MEMORY)</a:t>
            </a:r>
          </a:p>
          <a:p>
            <a:r>
              <a:rPr lang="en-GB" sz="1200" dirty="0">
                <a:latin typeface="Abadi" panose="020B0604020104020204" pitchFamily="34" charset="0"/>
              </a:rPr>
              <a:t>Context that learns, persists and adapts</a:t>
            </a:r>
          </a:p>
          <a:p>
            <a:r>
              <a:rPr lang="en-GB" sz="1200" dirty="0">
                <a:latin typeface="Abadi" panose="020B0604020104020204" pitchFamily="34" charset="0"/>
              </a:rPr>
              <a:t>Model decides which information is relevant and is stored as structured knowledge outside the thread</a:t>
            </a:r>
          </a:p>
          <a:p>
            <a:r>
              <a:rPr lang="en-GB" sz="1200" dirty="0">
                <a:latin typeface="Abadi" panose="020B0604020104020204" pitchFamily="34" charset="0"/>
              </a:rPr>
              <a:t>Memory is automatically injected into the prompt whenever the agents </a:t>
            </a:r>
          </a:p>
          <a:p>
            <a:r>
              <a:rPr lang="en-GB" sz="1200" dirty="0">
                <a:latin typeface="Abadi" panose="020B0604020104020204" pitchFamily="34" charset="0"/>
              </a:rPr>
              <a:t>Use cases: personalized copilots that remember your preference, previous answer</a:t>
            </a:r>
          </a:p>
          <a:p>
            <a:r>
              <a:rPr lang="en-GB" sz="1200" dirty="0">
                <a:latin typeface="Abadi" panose="020B0604020104020204" pitchFamily="34" charset="0"/>
              </a:rPr>
              <a:t>Saves on DB space, time, token usage, is efficient as it only picks key fact hence keeps context window light</a:t>
            </a:r>
            <a:endParaRPr lang="en-GB" dirty="0">
              <a:latin typeface="Abadi" panose="020B0604020104020204" pitchFamily="34" charset="0"/>
            </a:endParaRPr>
          </a:p>
        </p:txBody>
      </p:sp>
      <p:sp>
        <p:nvSpPr>
          <p:cNvPr id="4" name="TextBox 3">
            <a:extLst>
              <a:ext uri="{FF2B5EF4-FFF2-40B4-BE49-F238E27FC236}">
                <a16:creationId xmlns:a16="http://schemas.microsoft.com/office/drawing/2014/main" id="{869A34BB-CC11-E229-1193-7909CDC5F8A8}"/>
              </a:ext>
            </a:extLst>
          </p:cNvPr>
          <p:cNvSpPr txBox="1"/>
          <p:nvPr/>
        </p:nvSpPr>
        <p:spPr>
          <a:xfrm>
            <a:off x="6651171" y="543503"/>
            <a:ext cx="5116286" cy="2954655"/>
          </a:xfrm>
          <a:prstGeom prst="rect">
            <a:avLst/>
          </a:prstGeom>
          <a:noFill/>
        </p:spPr>
        <p:txBody>
          <a:bodyPr wrap="square" rtlCol="0">
            <a:spAutoFit/>
          </a:bodyPr>
          <a:lstStyle/>
          <a:p>
            <a:r>
              <a:rPr lang="en-GB" b="1" dirty="0">
                <a:latin typeface="Abadi" panose="020B0604020104020204" pitchFamily="34" charset="0"/>
              </a:rPr>
              <a:t>MIDDLEWARE</a:t>
            </a:r>
          </a:p>
          <a:p>
            <a:pPr marL="342900" indent="-342900">
              <a:buFont typeface="+mj-lt"/>
              <a:buAutoNum type="arabicPeriod"/>
            </a:pPr>
            <a:r>
              <a:rPr lang="en-GB" sz="1200" b="1" dirty="0">
                <a:latin typeface="Abadi" panose="020B0604020104020204" pitchFamily="34" charset="0"/>
              </a:rPr>
              <a:t>Timing middleware: </a:t>
            </a:r>
            <a:r>
              <a:rPr lang="en-GB" sz="1200" dirty="0">
                <a:latin typeface="Abadi" panose="020B0604020104020204" pitchFamily="34" charset="0"/>
              </a:rPr>
              <a:t>measures for long each interaction takes ; Useful in gauging performance of your agent(speed, latency spikes, delays); Runs around agent execution</a:t>
            </a:r>
          </a:p>
          <a:p>
            <a:pPr marL="342900" indent="-342900">
              <a:buFont typeface="+mj-lt"/>
              <a:buAutoNum type="arabicPeriod"/>
            </a:pPr>
            <a:r>
              <a:rPr lang="en-GB" sz="1200" b="1" dirty="0">
                <a:latin typeface="Abadi" panose="020B0604020104020204" pitchFamily="34" charset="0"/>
              </a:rPr>
              <a:t>Security middleware : </a:t>
            </a:r>
            <a:r>
              <a:rPr lang="en-GB" sz="1200" dirty="0">
                <a:latin typeface="Abadi" panose="020B0604020104020204" pitchFamily="34" charset="0"/>
              </a:rPr>
              <a:t>checks what the user is sending before it gets to the model; Useful in blocking passing of sensitive info, prompt injection or attempts to violate security policies</a:t>
            </a:r>
          </a:p>
          <a:p>
            <a:pPr marL="342900" indent="-342900">
              <a:buFont typeface="+mj-lt"/>
              <a:buAutoNum type="arabicPeriod"/>
            </a:pPr>
            <a:r>
              <a:rPr lang="en-GB" sz="1200" b="1" dirty="0">
                <a:latin typeface="Abadi" panose="020B0604020104020204" pitchFamily="34" charset="0"/>
              </a:rPr>
              <a:t>Function middleware : </a:t>
            </a:r>
            <a:r>
              <a:rPr lang="en-GB" sz="1200" dirty="0">
                <a:latin typeface="Abadi" panose="020B0604020104020204" pitchFamily="34" charset="0"/>
              </a:rPr>
              <a:t>wraps around functions/tools the agent uses; logs whenever an agent calls a tool and checks for function name, arguments, result after execution; useful since a lot of errors happen within tool calls hence you get full visibility into what is happening behind the scene</a:t>
            </a:r>
          </a:p>
          <a:p>
            <a:pPr marL="342900" indent="-342900">
              <a:buFont typeface="+mj-lt"/>
              <a:buAutoNum type="arabicPeriod"/>
            </a:pPr>
            <a:r>
              <a:rPr lang="en-GB" sz="1200" b="1" dirty="0">
                <a:latin typeface="Abadi" panose="020B0604020104020204" pitchFamily="34" charset="0"/>
              </a:rPr>
              <a:t>Token counter middleware: </a:t>
            </a:r>
            <a:r>
              <a:rPr lang="en-GB" sz="1200" dirty="0">
                <a:latin typeface="Abadi" panose="020B0604020104020204" pitchFamily="34" charset="0"/>
              </a:rPr>
              <a:t>wraps around a model, it estimates input tokens before a request goes to the model and output tokens on the response of the model.</a:t>
            </a:r>
            <a:endParaRPr lang="en-GB" sz="1200" b="1" dirty="0">
              <a:latin typeface="Abadi" panose="020B0604020104020204" pitchFamily="34" charset="0"/>
            </a:endParaRPr>
          </a:p>
        </p:txBody>
      </p:sp>
      <p:grpSp>
        <p:nvGrpSpPr>
          <p:cNvPr id="31" name="Group 30">
            <a:extLst>
              <a:ext uri="{FF2B5EF4-FFF2-40B4-BE49-F238E27FC236}">
                <a16:creationId xmlns:a16="http://schemas.microsoft.com/office/drawing/2014/main" id="{A2078E8A-45E1-6846-719C-1A4AA013146D}"/>
              </a:ext>
            </a:extLst>
          </p:cNvPr>
          <p:cNvGrpSpPr/>
          <p:nvPr/>
        </p:nvGrpSpPr>
        <p:grpSpPr>
          <a:xfrm>
            <a:off x="8192378" y="3617883"/>
            <a:ext cx="3019907" cy="2954655"/>
            <a:chOff x="7299749" y="1276645"/>
            <a:chExt cx="4759864" cy="5178584"/>
          </a:xfrm>
        </p:grpSpPr>
        <p:grpSp>
          <p:nvGrpSpPr>
            <p:cNvPr id="15" name="Group 14">
              <a:extLst>
                <a:ext uri="{FF2B5EF4-FFF2-40B4-BE49-F238E27FC236}">
                  <a16:creationId xmlns:a16="http://schemas.microsoft.com/office/drawing/2014/main" id="{5BCDB004-6933-A16E-7736-EF2E269A9A14}"/>
                </a:ext>
              </a:extLst>
            </p:cNvPr>
            <p:cNvGrpSpPr/>
            <p:nvPr/>
          </p:nvGrpSpPr>
          <p:grpSpPr>
            <a:xfrm>
              <a:off x="9624727" y="1883229"/>
              <a:ext cx="2434886" cy="4572000"/>
              <a:chOff x="9602957" y="1861458"/>
              <a:chExt cx="2434886" cy="4572000"/>
            </a:xfrm>
          </p:grpSpPr>
          <p:sp>
            <p:nvSpPr>
              <p:cNvPr id="14" name="Rectangle: Rounded Corners 13">
                <a:extLst>
                  <a:ext uri="{FF2B5EF4-FFF2-40B4-BE49-F238E27FC236}">
                    <a16:creationId xmlns:a16="http://schemas.microsoft.com/office/drawing/2014/main" id="{A7DBBEBD-3BE1-A789-EBDD-4B6C7DAF480C}"/>
                  </a:ext>
                </a:extLst>
              </p:cNvPr>
              <p:cNvSpPr/>
              <p:nvPr/>
            </p:nvSpPr>
            <p:spPr>
              <a:xfrm>
                <a:off x="9602957" y="1861458"/>
                <a:ext cx="2434886" cy="457200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dirty="0"/>
              </a:p>
            </p:txBody>
          </p:sp>
          <p:sp>
            <p:nvSpPr>
              <p:cNvPr id="7" name="Rectangle: Rounded Corners 6">
                <a:extLst>
                  <a:ext uri="{FF2B5EF4-FFF2-40B4-BE49-F238E27FC236}">
                    <a16:creationId xmlns:a16="http://schemas.microsoft.com/office/drawing/2014/main" id="{82FE7946-9AF7-9187-B87F-6C752BF50EE5}"/>
                  </a:ext>
                </a:extLst>
              </p:cNvPr>
              <p:cNvSpPr/>
              <p:nvPr/>
            </p:nvSpPr>
            <p:spPr>
              <a:xfrm>
                <a:off x="9920400" y="2535356"/>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TIMING</a:t>
                </a:r>
              </a:p>
            </p:txBody>
          </p:sp>
          <p:sp>
            <p:nvSpPr>
              <p:cNvPr id="8" name="Rectangle: Rounded Corners 7">
                <a:extLst>
                  <a:ext uri="{FF2B5EF4-FFF2-40B4-BE49-F238E27FC236}">
                    <a16:creationId xmlns:a16="http://schemas.microsoft.com/office/drawing/2014/main" id="{E090BE95-5FCB-E195-4067-A4B4002A7451}"/>
                  </a:ext>
                </a:extLst>
              </p:cNvPr>
              <p:cNvSpPr/>
              <p:nvPr/>
            </p:nvSpPr>
            <p:spPr>
              <a:xfrm>
                <a:off x="9920400" y="3591597"/>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SECURITY</a:t>
                </a:r>
              </a:p>
            </p:txBody>
          </p:sp>
          <p:sp>
            <p:nvSpPr>
              <p:cNvPr id="9" name="Rectangle: Rounded Corners 8">
                <a:extLst>
                  <a:ext uri="{FF2B5EF4-FFF2-40B4-BE49-F238E27FC236}">
                    <a16:creationId xmlns:a16="http://schemas.microsoft.com/office/drawing/2014/main" id="{82104838-10FF-F357-013F-C08C3D762986}"/>
                  </a:ext>
                </a:extLst>
              </p:cNvPr>
              <p:cNvSpPr/>
              <p:nvPr/>
            </p:nvSpPr>
            <p:spPr>
              <a:xfrm>
                <a:off x="9920400" y="4647838"/>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FUNCTION</a:t>
                </a:r>
              </a:p>
            </p:txBody>
          </p:sp>
          <p:sp>
            <p:nvSpPr>
              <p:cNvPr id="10" name="Rectangle: Rounded Corners 9">
                <a:extLst>
                  <a:ext uri="{FF2B5EF4-FFF2-40B4-BE49-F238E27FC236}">
                    <a16:creationId xmlns:a16="http://schemas.microsoft.com/office/drawing/2014/main" id="{F38AFC68-1773-636A-265B-51AB4173BC56}"/>
                  </a:ext>
                </a:extLst>
              </p:cNvPr>
              <p:cNvSpPr/>
              <p:nvPr/>
            </p:nvSpPr>
            <p:spPr>
              <a:xfrm>
                <a:off x="9920400" y="5704080"/>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Abadi" panose="020B0604020104020204" pitchFamily="34" charset="0"/>
                  </a:rPr>
                  <a:t>TOKEN COUNTER</a:t>
                </a:r>
              </a:p>
            </p:txBody>
          </p:sp>
        </p:grpSp>
        <p:sp>
          <p:nvSpPr>
            <p:cNvPr id="16" name="Rectangle: Rounded Corners 15">
              <a:extLst>
                <a:ext uri="{FF2B5EF4-FFF2-40B4-BE49-F238E27FC236}">
                  <a16:creationId xmlns:a16="http://schemas.microsoft.com/office/drawing/2014/main" id="{B5117D27-E90B-A9B7-1453-62D75ACADC25}"/>
                </a:ext>
              </a:extLst>
            </p:cNvPr>
            <p:cNvSpPr/>
            <p:nvPr/>
          </p:nvSpPr>
          <p:spPr>
            <a:xfrm>
              <a:off x="7299749" y="3120644"/>
              <a:ext cx="1404257" cy="2507270"/>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Abadi" panose="020B0604020104020204" pitchFamily="34" charset="0"/>
                </a:rPr>
                <a:t>AGENT</a:t>
              </a:r>
            </a:p>
          </p:txBody>
        </p:sp>
        <p:sp>
          <p:nvSpPr>
            <p:cNvPr id="17" name="Smiley Face 16">
              <a:extLst>
                <a:ext uri="{FF2B5EF4-FFF2-40B4-BE49-F238E27FC236}">
                  <a16:creationId xmlns:a16="http://schemas.microsoft.com/office/drawing/2014/main" id="{0069E898-B542-2C2E-4AE5-DED025467544}"/>
                </a:ext>
              </a:extLst>
            </p:cNvPr>
            <p:cNvSpPr/>
            <p:nvPr/>
          </p:nvSpPr>
          <p:spPr>
            <a:xfrm>
              <a:off x="10530300" y="1276645"/>
              <a:ext cx="504000" cy="504000"/>
            </a:xfrm>
            <a:prstGeom prst="smileyFac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29515FB1-72EC-ED55-9AD9-A040EB539D73}"/>
                </a:ext>
              </a:extLst>
            </p:cNvPr>
            <p:cNvSpPr txBox="1"/>
            <p:nvPr/>
          </p:nvSpPr>
          <p:spPr>
            <a:xfrm>
              <a:off x="9235659" y="1415475"/>
              <a:ext cx="1166509" cy="365171"/>
            </a:xfrm>
            <a:prstGeom prst="rect">
              <a:avLst/>
            </a:prstGeom>
            <a:noFill/>
          </p:spPr>
          <p:txBody>
            <a:bodyPr wrap="square" rtlCol="0">
              <a:spAutoFit/>
            </a:bodyPr>
            <a:lstStyle/>
            <a:p>
              <a:r>
                <a:rPr lang="en-GB" sz="1100" dirty="0"/>
                <a:t>Message</a:t>
              </a:r>
            </a:p>
          </p:txBody>
        </p:sp>
        <p:cxnSp>
          <p:nvCxnSpPr>
            <p:cNvPr id="21" name="Straight Arrow Connector 20">
              <a:extLst>
                <a:ext uri="{FF2B5EF4-FFF2-40B4-BE49-F238E27FC236}">
                  <a16:creationId xmlns:a16="http://schemas.microsoft.com/office/drawing/2014/main" id="{C8E696F8-BA5B-CC28-FD76-4774E1020D6D}"/>
                </a:ext>
              </a:extLst>
            </p:cNvPr>
            <p:cNvCxnSpPr>
              <a:cxnSpLocks/>
            </p:cNvCxnSpPr>
            <p:nvPr/>
          </p:nvCxnSpPr>
          <p:spPr>
            <a:xfrm>
              <a:off x="10782300" y="2090059"/>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3717C24-6B33-DF23-8EBB-1ECFA07FB7A3}"/>
                </a:ext>
              </a:extLst>
            </p:cNvPr>
            <p:cNvCxnSpPr>
              <a:cxnSpLocks/>
            </p:cNvCxnSpPr>
            <p:nvPr/>
          </p:nvCxnSpPr>
          <p:spPr>
            <a:xfrm>
              <a:off x="10782300" y="3120644"/>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D4BA9FE-46B0-AFCB-0C93-D280520E7851}"/>
                </a:ext>
              </a:extLst>
            </p:cNvPr>
            <p:cNvCxnSpPr/>
            <p:nvPr/>
          </p:nvCxnSpPr>
          <p:spPr>
            <a:xfrm flipH="1">
              <a:off x="8882743" y="3864429"/>
              <a:ext cx="8490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CC54287-DD7A-FA2D-058F-A6FAE8D23638}"/>
                </a:ext>
              </a:extLst>
            </p:cNvPr>
            <p:cNvCxnSpPr/>
            <p:nvPr/>
          </p:nvCxnSpPr>
          <p:spPr>
            <a:xfrm>
              <a:off x="8860971" y="4931230"/>
              <a:ext cx="957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1C96273-B682-6FE3-199C-7D68F3804BE0}"/>
                </a:ext>
              </a:extLst>
            </p:cNvPr>
            <p:cNvCxnSpPr>
              <a:cxnSpLocks/>
            </p:cNvCxnSpPr>
            <p:nvPr/>
          </p:nvCxnSpPr>
          <p:spPr>
            <a:xfrm>
              <a:off x="10782300" y="5257355"/>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5F0DA463-035A-68E6-8C36-5537A177C474}"/>
              </a:ext>
            </a:extLst>
          </p:cNvPr>
          <p:cNvSpPr txBox="1"/>
          <p:nvPr/>
        </p:nvSpPr>
        <p:spPr>
          <a:xfrm>
            <a:off x="0" y="4213964"/>
            <a:ext cx="6096000" cy="1785104"/>
          </a:xfrm>
          <a:prstGeom prst="rect">
            <a:avLst/>
          </a:prstGeom>
          <a:noFill/>
        </p:spPr>
        <p:txBody>
          <a:bodyPr wrap="square" rtlCol="0">
            <a:spAutoFit/>
          </a:bodyPr>
          <a:lstStyle/>
          <a:p>
            <a:r>
              <a:rPr lang="en-GB" b="1" dirty="0">
                <a:latin typeface="Abadi" panose="020B0604020104020204" pitchFamily="34" charset="0"/>
              </a:rPr>
              <a:t>OBSERVABILITY</a:t>
            </a:r>
          </a:p>
          <a:p>
            <a:r>
              <a:rPr lang="en-GB" sz="1200" dirty="0">
                <a:latin typeface="Abadi" panose="020B0604020104020204" pitchFamily="34" charset="0"/>
              </a:rPr>
              <a:t>Collects and logs all data and metadata in relation to the agent run </a:t>
            </a:r>
          </a:p>
          <a:p>
            <a:pPr marL="285750" indent="-285750">
              <a:buFontTx/>
              <a:buChar char="-"/>
            </a:pPr>
            <a:endParaRPr lang="en-GB" sz="1400" b="1" dirty="0">
              <a:latin typeface="Abadi" panose="020B0604020104020204" pitchFamily="34" charset="0"/>
            </a:endParaRPr>
          </a:p>
          <a:p>
            <a:r>
              <a:rPr lang="en-GB" b="1" dirty="0">
                <a:latin typeface="Abadi" panose="020B0604020104020204" pitchFamily="34" charset="0"/>
              </a:rPr>
              <a:t>MCP</a:t>
            </a:r>
          </a:p>
          <a:p>
            <a:pPr marL="342900" indent="-342900">
              <a:buAutoNum type="arabicPeriod"/>
            </a:pPr>
            <a:r>
              <a:rPr lang="en-GB" sz="1200" dirty="0">
                <a:latin typeface="Abadi" panose="020B0604020104020204" pitchFamily="34" charset="0"/>
              </a:rPr>
              <a:t>Self hosted MCP: run MCP server locally or within your own infrastructure. Great for full control of configuration, security, custom logic</a:t>
            </a:r>
          </a:p>
          <a:p>
            <a:pPr marL="342900" indent="-342900">
              <a:buAutoNum type="arabicPeriod"/>
            </a:pPr>
            <a:r>
              <a:rPr lang="en-GB" sz="1200" dirty="0">
                <a:latin typeface="Abadi" panose="020B0604020104020204" pitchFamily="34" charset="0"/>
              </a:rPr>
              <a:t>Remote Hosted MCP: hosted by 3</a:t>
            </a:r>
            <a:r>
              <a:rPr lang="en-GB" sz="1200" baseline="30000" dirty="0">
                <a:latin typeface="Abadi" panose="020B0604020104020204" pitchFamily="34" charset="0"/>
              </a:rPr>
              <a:t>rd</a:t>
            </a:r>
            <a:r>
              <a:rPr lang="en-GB" sz="1200" dirty="0">
                <a:latin typeface="Abadi" panose="020B0604020104020204" pitchFamily="34" charset="0"/>
              </a:rPr>
              <a:t> party service and you connect your agent to it. Useful for integrating external capabilities quickly</a:t>
            </a:r>
          </a:p>
        </p:txBody>
      </p:sp>
    </p:spTree>
    <p:extLst>
      <p:ext uri="{BB962C8B-B14F-4D97-AF65-F5344CB8AC3E}">
        <p14:creationId xmlns:p14="http://schemas.microsoft.com/office/powerpoint/2010/main" val="1768159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3A69-EA89-2E5D-4E1A-6B9246FD0EB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6ED4BA-AE96-B1D8-C62D-2B6E3E3CFB8A}"/>
              </a:ext>
            </a:extLst>
          </p:cNvPr>
          <p:cNvGraphicFramePr>
            <a:graphicFrameLocks noGrp="1"/>
          </p:cNvGraphicFramePr>
          <p:nvPr/>
        </p:nvGraphicFramePr>
        <p:xfrm>
          <a:off x="3491484" y="3968496"/>
          <a:ext cx="5591556" cy="2743200"/>
        </p:xfrm>
        <a:graphic>
          <a:graphicData uri="http://schemas.openxmlformats.org/drawingml/2006/table">
            <a:tbl>
              <a:tblPr firstRow="1" bandRow="1">
                <a:tableStyleId>{073A0DAA-6AF3-43AB-8588-CEC1D06C72B9}</a:tableStyleId>
              </a:tblPr>
              <a:tblGrid>
                <a:gridCol w="1211127">
                  <a:extLst>
                    <a:ext uri="{9D8B030D-6E8A-4147-A177-3AD203B41FA5}">
                      <a16:colId xmlns:a16="http://schemas.microsoft.com/office/drawing/2014/main" val="1749051103"/>
                    </a:ext>
                  </a:extLst>
                </a:gridCol>
                <a:gridCol w="2071365">
                  <a:extLst>
                    <a:ext uri="{9D8B030D-6E8A-4147-A177-3AD203B41FA5}">
                      <a16:colId xmlns:a16="http://schemas.microsoft.com/office/drawing/2014/main" val="125949359"/>
                    </a:ext>
                  </a:extLst>
                </a:gridCol>
                <a:gridCol w="2309064">
                  <a:extLst>
                    <a:ext uri="{9D8B030D-6E8A-4147-A177-3AD203B41FA5}">
                      <a16:colId xmlns:a16="http://schemas.microsoft.com/office/drawing/2014/main" val="1816427080"/>
                    </a:ext>
                  </a:extLst>
                </a:gridCol>
              </a:tblGrid>
              <a:tr h="253242">
                <a:tc>
                  <a:txBody>
                    <a:bodyPr/>
                    <a:lstStyle/>
                    <a:p>
                      <a:endParaRPr lang="en-GB" sz="1200" dirty="0">
                        <a:solidFill>
                          <a:schemeClr val="tx1"/>
                        </a:solidFill>
                        <a:latin typeface="Abadi" panose="020B0604020104020204" pitchFamily="34" charset="0"/>
                      </a:endParaRPr>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solidFill>
                            <a:schemeClr val="tx1"/>
                          </a:solidFill>
                          <a:latin typeface="Abadi" panose="020B0604020104020204" pitchFamily="34" charset="0"/>
                        </a:rPr>
                        <a:t>MAF</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solidFill>
                            <a:schemeClr val="tx1"/>
                          </a:solidFill>
                          <a:latin typeface="Abadi" panose="020B0604020104020204" pitchFamily="34" charset="0"/>
                        </a:rPr>
                        <a:t>FAS</a:t>
                      </a:r>
                    </a:p>
                  </a:txBody>
                  <a:tcP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750162874"/>
                  </a:ext>
                </a:extLst>
              </a:tr>
              <a:tr h="422069">
                <a:tc>
                  <a:txBody>
                    <a:bodyPr/>
                    <a:lstStyle/>
                    <a:p>
                      <a:r>
                        <a:rPr lang="en-GB" sz="1200" dirty="0">
                          <a:latin typeface="Abadi" panose="020B0604020104020204" pitchFamily="34" charset="0"/>
                        </a:rPr>
                        <a:t>Primary Function</a:t>
                      </a:r>
                    </a:p>
                  </a:txBody>
                  <a:tcPr>
                    <a:lnL w="3175"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Build &amp; orchestrate with SDK</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Host, deploy and manage agents at scale</a:t>
                      </a:r>
                    </a:p>
                  </a:txBody>
                  <a:tcP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81590602"/>
                  </a:ext>
                </a:extLst>
              </a:tr>
              <a:tr h="421307">
                <a:tc>
                  <a:txBody>
                    <a:bodyPr/>
                    <a:lstStyle/>
                    <a:p>
                      <a:r>
                        <a:rPr lang="en-GB" sz="1200" dirty="0">
                          <a:latin typeface="Abadi" panose="020B0604020104020204" pitchFamily="34" charset="0"/>
                        </a:rPr>
                        <a:t>Developer focus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Code-first, flexible, modular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Fully managed, production first</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85037546"/>
                  </a:ext>
                </a:extLst>
              </a:tr>
              <a:tr h="601867">
                <a:tc>
                  <a:txBody>
                    <a:bodyPr/>
                    <a:lstStyle/>
                    <a:p>
                      <a:r>
                        <a:rPr lang="en-GB" sz="1200" dirty="0">
                          <a:latin typeface="Abadi" panose="020B0604020104020204" pitchFamily="34" charset="0"/>
                        </a:rPr>
                        <a:t>Memory</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Agent threads with persistent and ephemeral state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Service managed conversation threads</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74746782"/>
                  </a:ext>
                </a:extLst>
              </a:tr>
              <a:tr h="421307">
                <a:tc>
                  <a:txBody>
                    <a:bodyPr/>
                    <a:lstStyle/>
                    <a:p>
                      <a:r>
                        <a:rPr lang="en-GB" sz="1200" dirty="0">
                          <a:latin typeface="Abadi" panose="020B0604020104020204" pitchFamily="34" charset="0"/>
                        </a:rPr>
                        <a:t>Orchestration</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Advanced patterns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Enterprise workflows(YAML +  visual)</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62833852"/>
                  </a:ext>
                </a:extLst>
              </a:tr>
              <a:tr h="422069">
                <a:tc>
                  <a:txBody>
                    <a:bodyPr/>
                    <a:lstStyle/>
                    <a:p>
                      <a:r>
                        <a:rPr lang="en-GB" sz="1200" dirty="0">
                          <a:latin typeface="Abadi" panose="020B0604020104020204" pitchFamily="34" charset="0"/>
                        </a:rPr>
                        <a:t>Use cases</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Custom agent logic</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Production workloads, enterprise automation</a:t>
                      </a:r>
                    </a:p>
                  </a:txBody>
                  <a:tcPr>
                    <a:lnL w="12700" cmpd="sng">
                      <a:noFill/>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78302550"/>
                  </a:ext>
                </a:extLst>
              </a:tr>
            </a:tbl>
          </a:graphicData>
        </a:graphic>
      </p:graphicFrame>
      <p:grpSp>
        <p:nvGrpSpPr>
          <p:cNvPr id="3" name="Group 2">
            <a:extLst>
              <a:ext uri="{FF2B5EF4-FFF2-40B4-BE49-F238E27FC236}">
                <a16:creationId xmlns:a16="http://schemas.microsoft.com/office/drawing/2014/main" id="{4028BAE3-279B-52BB-67D4-9C201653A147}"/>
              </a:ext>
            </a:extLst>
          </p:cNvPr>
          <p:cNvGrpSpPr/>
          <p:nvPr/>
        </p:nvGrpSpPr>
        <p:grpSpPr>
          <a:xfrm>
            <a:off x="240791" y="464115"/>
            <a:ext cx="11710418" cy="3376361"/>
            <a:chOff x="361188" y="3543626"/>
            <a:chExt cx="11710418" cy="3376361"/>
          </a:xfrm>
        </p:grpSpPr>
        <p:sp>
          <p:nvSpPr>
            <p:cNvPr id="4" name="TextBox 3">
              <a:extLst>
                <a:ext uri="{FF2B5EF4-FFF2-40B4-BE49-F238E27FC236}">
                  <a16:creationId xmlns:a16="http://schemas.microsoft.com/office/drawing/2014/main" id="{87BB2610-19C3-8D15-A94E-B5B44FC75897}"/>
                </a:ext>
              </a:extLst>
            </p:cNvPr>
            <p:cNvSpPr txBox="1"/>
            <p:nvPr/>
          </p:nvSpPr>
          <p:spPr>
            <a:xfrm>
              <a:off x="361188" y="3543626"/>
              <a:ext cx="4855464" cy="1754326"/>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sz="1200" b="1" dirty="0">
                  <a:latin typeface="Abadi" panose="020B0604020104020204" pitchFamily="34" charset="0"/>
                </a:rPr>
                <a:t>MICROSOFT AGENT FRAMEWORK</a:t>
              </a:r>
            </a:p>
            <a:p>
              <a:pPr marL="285750" indent="-285750">
                <a:buFontTx/>
                <a:buChar char="-"/>
              </a:pPr>
              <a:r>
                <a:rPr lang="en-GB" sz="1200" dirty="0">
                  <a:latin typeface="Abadi" panose="020B0604020104020204" pitchFamily="34" charset="0"/>
                </a:rPr>
                <a:t>Open-source SDK</a:t>
              </a:r>
            </a:p>
            <a:p>
              <a:pPr marL="285750" indent="-285750">
                <a:buFontTx/>
                <a:buChar char="-"/>
              </a:pPr>
              <a:r>
                <a:rPr lang="en-GB" sz="1200" dirty="0">
                  <a:latin typeface="Abadi" panose="020B0604020104020204" pitchFamily="34" charset="0"/>
                </a:rPr>
                <a:t>Fine-grained control </a:t>
              </a:r>
              <a:r>
                <a:rPr lang="en-GB" sz="1200" dirty="0" err="1">
                  <a:latin typeface="Abadi" panose="020B0604020104020204" pitchFamily="34" charset="0"/>
                </a:rPr>
                <a:t>ie</a:t>
              </a:r>
              <a:r>
                <a:rPr lang="en-GB" sz="1200" dirty="0">
                  <a:latin typeface="Abadi" panose="020B0604020104020204" pitchFamily="34" charset="0"/>
                </a:rPr>
                <a:t> : orchestrations, memory, tools</a:t>
              </a:r>
            </a:p>
            <a:p>
              <a:pPr marL="285750" indent="-285750">
                <a:buFontTx/>
                <a:buChar char="-"/>
              </a:pPr>
              <a:r>
                <a:rPr lang="en-GB" sz="1200" dirty="0">
                  <a:latin typeface="Abadi" panose="020B0604020104020204" pitchFamily="34" charset="0"/>
                </a:rPr>
                <a:t>Build on Semantic Kernel + </a:t>
              </a:r>
              <a:r>
                <a:rPr lang="en-GB" sz="1200" dirty="0" err="1">
                  <a:latin typeface="Abadi" panose="020B0604020104020204" pitchFamily="34" charset="0"/>
                </a:rPr>
                <a:t>AutoGen</a:t>
              </a:r>
              <a:endParaRPr lang="en-GB" sz="1200" dirty="0">
                <a:latin typeface="Abadi" panose="020B0604020104020204" pitchFamily="34" charset="0"/>
              </a:endParaRPr>
            </a:p>
            <a:p>
              <a:pPr marL="285750" indent="-285750">
                <a:buFontTx/>
                <a:buChar char="-"/>
              </a:pPr>
              <a:r>
                <a:rPr lang="en-GB" sz="1200" dirty="0">
                  <a:latin typeface="Abadi" panose="020B0604020104020204" pitchFamily="34" charset="0"/>
                </a:rPr>
                <a:t>Complex orchestration patterns</a:t>
              </a:r>
            </a:p>
            <a:p>
              <a:pPr marL="285750" indent="-285750">
                <a:buFontTx/>
                <a:buChar char="-"/>
              </a:pPr>
              <a:r>
                <a:rPr lang="en-GB" sz="1200" dirty="0">
                  <a:latin typeface="Abadi" panose="020B0604020104020204" pitchFamily="34" charset="0"/>
                </a:rPr>
                <a:t>Agent Threads – multi-turn conversations</a:t>
              </a:r>
            </a:p>
            <a:p>
              <a:pPr marL="285750" indent="-285750">
                <a:buFontTx/>
                <a:buChar char="-"/>
              </a:pPr>
              <a:r>
                <a:rPr lang="en-GB" sz="1200" dirty="0">
                  <a:latin typeface="Abadi" panose="020B0604020104020204" pitchFamily="34" charset="0"/>
                </a:rPr>
                <a:t>Interoperability with MCP, A2A, OpenAI API tools</a:t>
              </a:r>
            </a:p>
            <a:p>
              <a:pPr marL="285750" indent="-285750">
                <a:buFontTx/>
                <a:buChar char="-"/>
              </a:pPr>
              <a:r>
                <a:rPr lang="en-GB" sz="1200" dirty="0">
                  <a:latin typeface="Abadi" panose="020B0604020104020204" pitchFamily="34" charset="0"/>
                </a:rPr>
                <a:t>Supports both simple and complex types</a:t>
              </a:r>
            </a:p>
            <a:p>
              <a:pPr marL="285750" indent="-285750">
                <a:buFontTx/>
                <a:buChar char="-"/>
              </a:pPr>
              <a:r>
                <a:rPr lang="en-GB" sz="1200" dirty="0">
                  <a:latin typeface="Abadi" panose="020B0604020104020204" pitchFamily="34" charset="0"/>
                </a:rPr>
                <a:t>Flexible deployment options – ACA/AKS/Container Apps</a:t>
              </a:r>
            </a:p>
          </p:txBody>
        </p:sp>
        <p:sp>
          <p:nvSpPr>
            <p:cNvPr id="5" name="TextBox 4">
              <a:extLst>
                <a:ext uri="{FF2B5EF4-FFF2-40B4-BE49-F238E27FC236}">
                  <a16:creationId xmlns:a16="http://schemas.microsoft.com/office/drawing/2014/main" id="{6ED82DB3-F319-7109-E7C7-F88A5C6A1EEB}"/>
                </a:ext>
              </a:extLst>
            </p:cNvPr>
            <p:cNvSpPr txBox="1"/>
            <p:nvPr/>
          </p:nvSpPr>
          <p:spPr>
            <a:xfrm>
              <a:off x="6775705" y="3604972"/>
              <a:ext cx="4855464"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1200" b="1" dirty="0">
                  <a:latin typeface="Abadi" panose="020B0604020104020204" pitchFamily="34" charset="0"/>
                </a:rPr>
                <a:t>FOUNDRY AGENT SERVICE (FAS)</a:t>
              </a:r>
            </a:p>
            <a:p>
              <a:pPr marL="285750" indent="-285750">
                <a:buFontTx/>
                <a:buChar char="-"/>
              </a:pPr>
              <a:r>
                <a:rPr lang="en-GB" sz="1200" dirty="0">
                  <a:latin typeface="Abadi" panose="020B0604020104020204" pitchFamily="34" charset="0"/>
                </a:rPr>
                <a:t>Full managed enterprise runtime</a:t>
              </a:r>
            </a:p>
            <a:p>
              <a:pPr marL="285750" indent="-285750">
                <a:buFontTx/>
                <a:buChar char="-"/>
              </a:pPr>
              <a:r>
                <a:rPr lang="en-GB" sz="1200" dirty="0">
                  <a:latin typeface="Abadi" panose="020B0604020104020204" pitchFamily="34" charset="0"/>
                </a:rPr>
                <a:t>Provides secure runtime with identity, networking, observability</a:t>
              </a:r>
            </a:p>
            <a:p>
              <a:pPr marL="285750" indent="-285750">
                <a:buFontTx/>
                <a:buChar char="-"/>
              </a:pPr>
              <a:r>
                <a:rPr lang="en-GB" sz="1200" dirty="0">
                  <a:latin typeface="Abadi" panose="020B0604020104020204" pitchFamily="34" charset="0"/>
                </a:rPr>
                <a:t>Supports containerized hosted agents for any framework</a:t>
              </a:r>
            </a:p>
            <a:p>
              <a:pPr marL="285750" indent="-285750">
                <a:buFontTx/>
                <a:buChar char="-"/>
              </a:pPr>
              <a:r>
                <a:rPr lang="en-GB" sz="1200" dirty="0">
                  <a:latin typeface="Abadi" panose="020B0604020104020204" pitchFamily="34" charset="0"/>
                </a:rPr>
                <a:t>Provide YAML + Visual agent workflows</a:t>
              </a:r>
            </a:p>
            <a:p>
              <a:pPr marL="285750" indent="-285750">
                <a:buFontTx/>
                <a:buChar char="-"/>
              </a:pPr>
              <a:r>
                <a:rPr lang="en-GB" sz="1200" dirty="0">
                  <a:latin typeface="Abadi" panose="020B0604020104020204" pitchFamily="34" charset="0"/>
                </a:rPr>
                <a:t>Integrates with Foundry models, tools etc</a:t>
              </a:r>
            </a:p>
            <a:p>
              <a:endParaRPr lang="en-GB" sz="1200" b="1" dirty="0">
                <a:latin typeface="Abadi" panose="020B0604020104020204" pitchFamily="34" charset="0"/>
              </a:endParaRPr>
            </a:p>
          </p:txBody>
        </p:sp>
        <p:sp>
          <p:nvSpPr>
            <p:cNvPr id="6" name="TextBox 5">
              <a:extLst>
                <a:ext uri="{FF2B5EF4-FFF2-40B4-BE49-F238E27FC236}">
                  <a16:creationId xmlns:a16="http://schemas.microsoft.com/office/drawing/2014/main" id="{87963254-04A8-697B-2FF2-BC85018FBFF7}"/>
                </a:ext>
              </a:extLst>
            </p:cNvPr>
            <p:cNvSpPr txBox="1"/>
            <p:nvPr/>
          </p:nvSpPr>
          <p:spPr>
            <a:xfrm>
              <a:off x="4327398" y="6273656"/>
              <a:ext cx="416052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200" b="1" dirty="0">
                  <a:latin typeface="Abadi" panose="020B0604020104020204" pitchFamily="34" charset="0"/>
                </a:rPr>
                <a:t>HOW DO THEY WORK TOGETHER</a:t>
              </a:r>
            </a:p>
            <a:p>
              <a:pPr marL="285750" indent="-285750">
                <a:buFontTx/>
                <a:buChar char="-"/>
              </a:pPr>
              <a:r>
                <a:rPr lang="en-GB" sz="1200" dirty="0">
                  <a:latin typeface="Abadi" panose="020B0604020104020204" pitchFamily="34" charset="0"/>
                </a:rPr>
                <a:t>Shared runtime vision : unified abstractions, both support MCP, A2A, OpenAI tool interoperability</a:t>
              </a:r>
            </a:p>
          </p:txBody>
        </p:sp>
        <p:cxnSp>
          <p:nvCxnSpPr>
            <p:cNvPr id="7" name="Connector: Elbow 6">
              <a:extLst>
                <a:ext uri="{FF2B5EF4-FFF2-40B4-BE49-F238E27FC236}">
                  <a16:creationId xmlns:a16="http://schemas.microsoft.com/office/drawing/2014/main" id="{41AD31C3-544A-7641-5EC3-C471D0897AB4}"/>
                </a:ext>
              </a:extLst>
            </p:cNvPr>
            <p:cNvCxnSpPr>
              <a:cxnSpLocks/>
              <a:stCxn id="4" idx="2"/>
              <a:endCxn id="6" idx="1"/>
            </p:cNvCxnSpPr>
            <p:nvPr/>
          </p:nvCxnSpPr>
          <p:spPr>
            <a:xfrm rot="16200000" flipH="1">
              <a:off x="2908724" y="5178148"/>
              <a:ext cx="1298870" cy="1538478"/>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E95777D6-2F99-4B25-7532-932671E97F8D}"/>
                </a:ext>
              </a:extLst>
            </p:cNvPr>
            <p:cNvCxnSpPr>
              <a:cxnSpLocks/>
              <a:stCxn id="5" idx="2"/>
              <a:endCxn id="6" idx="3"/>
            </p:cNvCxnSpPr>
            <p:nvPr/>
          </p:nvCxnSpPr>
          <p:spPr>
            <a:xfrm rot="5400000">
              <a:off x="8042251" y="5435635"/>
              <a:ext cx="1606855" cy="715518"/>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D52324E-CEE1-0889-B1E2-2048DA3D5A9B}"/>
                </a:ext>
              </a:extLst>
            </p:cNvPr>
            <p:cNvSpPr txBox="1"/>
            <p:nvPr/>
          </p:nvSpPr>
          <p:spPr>
            <a:xfrm>
              <a:off x="437769" y="5376181"/>
              <a:ext cx="2274569" cy="1323439"/>
            </a:xfrm>
            <a:prstGeom prst="rect">
              <a:avLst/>
            </a:prstGeom>
            <a:solidFill>
              <a:schemeClr val="accent5">
                <a:lumMod val="20000"/>
                <a:lumOff val="80000"/>
              </a:schemeClr>
            </a:solidFill>
          </p:spPr>
          <p:txBody>
            <a:bodyPr wrap="square" rtlCol="0">
              <a:spAutoFit/>
            </a:bodyPr>
            <a:lstStyle/>
            <a:p>
              <a:r>
                <a:rPr lang="en-GB" sz="1000" b="1" dirty="0">
                  <a:latin typeface="Abadi" panose="020B0604020104020204" pitchFamily="34" charset="0"/>
                </a:rPr>
                <a:t>CHOOSE MAF IF:</a:t>
              </a:r>
            </a:p>
            <a:p>
              <a:pPr marL="285750" indent="-285750">
                <a:buFont typeface="Arial" panose="020B0604020202020204" pitchFamily="34" charset="0"/>
                <a:buChar char="•"/>
              </a:pPr>
              <a:r>
                <a:rPr lang="en-GB" sz="1000" i="1" dirty="0">
                  <a:latin typeface="Abadi" panose="020B0604020104020204" pitchFamily="34" charset="0"/>
                </a:rPr>
                <a:t>Custom orchestration patterns</a:t>
              </a:r>
            </a:p>
            <a:p>
              <a:pPr marL="285750" indent="-285750">
                <a:buFont typeface="Arial" panose="020B0604020202020204" pitchFamily="34" charset="0"/>
                <a:buChar char="•"/>
              </a:pPr>
              <a:r>
                <a:rPr lang="en-GB" sz="1000" i="1" dirty="0">
                  <a:latin typeface="Abadi" panose="020B0604020104020204" pitchFamily="34" charset="0"/>
                </a:rPr>
                <a:t>Local development and debugging</a:t>
              </a:r>
            </a:p>
            <a:p>
              <a:pPr marL="285750" indent="-285750">
                <a:buFont typeface="Arial" panose="020B0604020202020204" pitchFamily="34" charset="0"/>
                <a:buChar char="•"/>
              </a:pPr>
              <a:r>
                <a:rPr lang="en-GB" sz="1000" i="1" dirty="0">
                  <a:latin typeface="Abadi" panose="020B0604020104020204" pitchFamily="34" charset="0"/>
                </a:rPr>
                <a:t>Fine-grained control</a:t>
              </a:r>
            </a:p>
            <a:p>
              <a:pPr marL="285750" indent="-285750">
                <a:buFont typeface="Arial" panose="020B0604020202020204" pitchFamily="34" charset="0"/>
                <a:buChar char="•"/>
              </a:pPr>
              <a:r>
                <a:rPr lang="en-GB" sz="1000" i="1" dirty="0">
                  <a:latin typeface="Abadi" panose="020B0604020104020204" pitchFamily="34" charset="0"/>
                </a:rPr>
                <a:t>Ability to mix models/providers</a:t>
              </a:r>
            </a:p>
            <a:p>
              <a:pPr marL="285750" indent="-285750">
                <a:buFont typeface="Arial" panose="020B0604020202020204" pitchFamily="34" charset="0"/>
                <a:buChar char="•"/>
              </a:pPr>
              <a:r>
                <a:rPr lang="en-GB" sz="1000" i="1" dirty="0">
                  <a:latin typeface="Abadi" panose="020B0604020104020204" pitchFamily="34" charset="0"/>
                </a:rPr>
                <a:t>Extensible developer-driven architecture</a:t>
              </a:r>
            </a:p>
          </p:txBody>
        </p:sp>
        <p:sp>
          <p:nvSpPr>
            <p:cNvPr id="10" name="TextBox 9">
              <a:extLst>
                <a:ext uri="{FF2B5EF4-FFF2-40B4-BE49-F238E27FC236}">
                  <a16:creationId xmlns:a16="http://schemas.microsoft.com/office/drawing/2014/main" id="{E4672A40-2A5E-C30D-F09A-E3D062183649}"/>
                </a:ext>
              </a:extLst>
            </p:cNvPr>
            <p:cNvSpPr txBox="1"/>
            <p:nvPr/>
          </p:nvSpPr>
          <p:spPr>
            <a:xfrm>
              <a:off x="9531099" y="5066554"/>
              <a:ext cx="2540507" cy="1477328"/>
            </a:xfrm>
            <a:prstGeom prst="rect">
              <a:avLst/>
            </a:prstGeom>
            <a:solidFill>
              <a:schemeClr val="accent2">
                <a:lumMod val="20000"/>
                <a:lumOff val="80000"/>
              </a:schemeClr>
            </a:solidFill>
          </p:spPr>
          <p:txBody>
            <a:bodyPr wrap="square" rtlCol="0">
              <a:spAutoFit/>
            </a:bodyPr>
            <a:lstStyle/>
            <a:p>
              <a:r>
                <a:rPr lang="en-GB" sz="1000" b="1" dirty="0">
                  <a:latin typeface="Abadi" panose="020B0604020104020204" pitchFamily="34" charset="0"/>
                </a:rPr>
                <a:t>CHOOSE FAS IF</a:t>
              </a:r>
            </a:p>
            <a:p>
              <a:pPr marL="285750" indent="-285750">
                <a:buFont typeface="Arial" panose="020B0604020202020204" pitchFamily="34" charset="0"/>
                <a:buChar char="•"/>
              </a:pPr>
              <a:r>
                <a:rPr lang="en-GB" sz="1000" i="1" dirty="0">
                  <a:latin typeface="Abadi" panose="020B0604020104020204" pitchFamily="34" charset="0"/>
                </a:rPr>
                <a:t>Enterprise grade hosting</a:t>
              </a:r>
            </a:p>
            <a:p>
              <a:pPr marL="285750" indent="-285750">
                <a:buFont typeface="Arial" panose="020B0604020202020204" pitchFamily="34" charset="0"/>
                <a:buChar char="•"/>
              </a:pPr>
              <a:r>
                <a:rPr lang="en-GB" sz="1000" i="1" dirty="0">
                  <a:latin typeface="Abadi" panose="020B0604020104020204" pitchFamily="34" charset="0"/>
                </a:rPr>
                <a:t>Network isolation, identity integration, RBAC</a:t>
              </a:r>
            </a:p>
            <a:p>
              <a:pPr marL="285750" indent="-285750">
                <a:buFont typeface="Arial" panose="020B0604020202020204" pitchFamily="34" charset="0"/>
                <a:buChar char="•"/>
              </a:pPr>
              <a:r>
                <a:rPr lang="en-GB" sz="1000" i="1" dirty="0">
                  <a:latin typeface="Abadi" panose="020B0604020104020204" pitchFamily="34" charset="0"/>
                </a:rPr>
                <a:t>Large-scale observability, versioning and governance</a:t>
              </a:r>
            </a:p>
            <a:p>
              <a:pPr marL="285750" indent="-285750">
                <a:buFont typeface="Arial" panose="020B0604020202020204" pitchFamily="34" charset="0"/>
                <a:buChar char="•"/>
              </a:pPr>
              <a:r>
                <a:rPr lang="en-GB" sz="1000" i="1" dirty="0">
                  <a:latin typeface="Abadi" panose="020B0604020104020204" pitchFamily="34" charset="0"/>
                </a:rPr>
                <a:t>Multi-agent workflow automation at production scale</a:t>
              </a:r>
            </a:p>
            <a:p>
              <a:pPr marL="285750" indent="-285750">
                <a:buFont typeface="Arial" panose="020B0604020202020204" pitchFamily="34" charset="0"/>
                <a:buChar char="•"/>
              </a:pPr>
              <a:r>
                <a:rPr lang="en-GB" sz="1000" i="1" dirty="0">
                  <a:latin typeface="Abadi" panose="020B0604020104020204" pitchFamily="34" charset="0"/>
                </a:rPr>
                <a:t>Zero-infrastructure</a:t>
              </a:r>
            </a:p>
          </p:txBody>
        </p:sp>
      </p:grpSp>
      <p:sp>
        <p:nvSpPr>
          <p:cNvPr id="11" name="TextBox 10">
            <a:extLst>
              <a:ext uri="{FF2B5EF4-FFF2-40B4-BE49-F238E27FC236}">
                <a16:creationId xmlns:a16="http://schemas.microsoft.com/office/drawing/2014/main" id="{28D8E66A-2427-F390-FA7E-4E85690A1A93}"/>
              </a:ext>
            </a:extLst>
          </p:cNvPr>
          <p:cNvSpPr txBox="1"/>
          <p:nvPr/>
        </p:nvSpPr>
        <p:spPr>
          <a:xfrm>
            <a:off x="2377440" y="-14376"/>
            <a:ext cx="6812280" cy="369332"/>
          </a:xfrm>
          <a:prstGeom prst="rect">
            <a:avLst/>
          </a:prstGeom>
          <a:noFill/>
        </p:spPr>
        <p:txBody>
          <a:bodyPr wrap="square" rtlCol="0">
            <a:spAutoFit/>
          </a:bodyPr>
          <a:lstStyle/>
          <a:p>
            <a:r>
              <a:rPr lang="en-GB" b="1" dirty="0">
                <a:solidFill>
                  <a:schemeClr val="accent5">
                    <a:lumMod val="60000"/>
                    <a:lumOff val="40000"/>
                  </a:schemeClr>
                </a:solidFill>
                <a:latin typeface="Abadi" panose="020B0604020104020204" pitchFamily="34" charset="0"/>
              </a:rPr>
              <a:t>MICROSOFT AGENT FRAMEWORK </a:t>
            </a:r>
            <a:r>
              <a:rPr lang="en-GB" b="1" dirty="0">
                <a:latin typeface="Abadi" panose="020B0604020104020204" pitchFamily="34" charset="0"/>
              </a:rPr>
              <a:t>VS </a:t>
            </a:r>
            <a:r>
              <a:rPr lang="en-GB" b="1" dirty="0">
                <a:solidFill>
                  <a:schemeClr val="accent2">
                    <a:lumMod val="75000"/>
                  </a:schemeClr>
                </a:solidFill>
                <a:latin typeface="Abadi" panose="020B0604020104020204" pitchFamily="34" charset="0"/>
              </a:rPr>
              <a:t>FOUNDRY AGENT SERVICE</a:t>
            </a:r>
          </a:p>
        </p:txBody>
      </p:sp>
    </p:spTree>
    <p:extLst>
      <p:ext uri="{BB962C8B-B14F-4D97-AF65-F5344CB8AC3E}">
        <p14:creationId xmlns:p14="http://schemas.microsoft.com/office/powerpoint/2010/main" val="4068619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2074</TotalTime>
  <Words>1169</Words>
  <Application>Microsoft Office PowerPoint</Application>
  <PresentationFormat>Widescreen</PresentationFormat>
  <Paragraphs>133</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Abadi</vt:lpstr>
      <vt:lpstr>Aptos</vt:lpstr>
      <vt:lpstr>Aptos Display</vt:lpstr>
      <vt:lpstr>Arial</vt:lpstr>
      <vt:lpstr>Baguet Script</vt:lpstr>
      <vt:lpstr>Bradley Hand ITC</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Dorothy Cheruiyot</dc:creator>
  <cp:lastModifiedBy>Dorothy Cheruiyot</cp:lastModifiedBy>
  <cp:revision>5</cp:revision>
  <dcterms:created xsi:type="dcterms:W3CDTF">2026-01-30T16:45:50Z</dcterms:created>
  <dcterms:modified xsi:type="dcterms:W3CDTF">2026-02-01T18:23:58Z</dcterms:modified>
</cp:coreProperties>
</file>